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8" r:id="rId4"/>
    <p:sldId id="268" r:id="rId5"/>
    <p:sldId id="259" r:id="rId6"/>
    <p:sldId id="260" r:id="rId7"/>
    <p:sldId id="261" r:id="rId8"/>
    <p:sldId id="262" r:id="rId9"/>
    <p:sldId id="263" r:id="rId10"/>
    <p:sldId id="269" r:id="rId11"/>
    <p:sldId id="264" r:id="rId12"/>
    <p:sldId id="276" r:id="rId13"/>
    <p:sldId id="265" r:id="rId14"/>
    <p:sldId id="266" r:id="rId15"/>
    <p:sldId id="267"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8813"/>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k maurya" userId="0589ea4bbbfc12f8" providerId="LiveId" clId="{41AFEFFA-83EF-43B5-9E1E-80CD2E6F9647}"/>
    <pc:docChg chg="custSel addSld delSld modSld">
      <pc:chgData name="deepak maurya" userId="0589ea4bbbfc12f8" providerId="LiveId" clId="{41AFEFFA-83EF-43B5-9E1E-80CD2E6F9647}" dt="2026-04-12T13:20:57.344" v="41" actId="14100"/>
      <pc:docMkLst>
        <pc:docMk/>
      </pc:docMkLst>
      <pc:sldChg chg="modSp mod">
        <pc:chgData name="deepak maurya" userId="0589ea4bbbfc12f8" providerId="LiveId" clId="{41AFEFFA-83EF-43B5-9E1E-80CD2E6F9647}" dt="2026-04-05T17:47:12.591" v="5" actId="20577"/>
        <pc:sldMkLst>
          <pc:docMk/>
          <pc:sldMk cId="0" sldId="256"/>
        </pc:sldMkLst>
        <pc:spChg chg="mod">
          <ac:chgData name="deepak maurya" userId="0589ea4bbbfc12f8" providerId="LiveId" clId="{41AFEFFA-83EF-43B5-9E1E-80CD2E6F9647}" dt="2026-04-05T17:47:12.591" v="5" actId="20577"/>
          <ac:spMkLst>
            <pc:docMk/>
            <pc:sldMk cId="0" sldId="256"/>
            <ac:spMk id="7" creationId="{00000000-0000-0000-0000-000000000000}"/>
          </ac:spMkLst>
        </pc:spChg>
      </pc:sldChg>
      <pc:sldChg chg="modSp mod">
        <pc:chgData name="deepak maurya" userId="0589ea4bbbfc12f8" providerId="LiveId" clId="{41AFEFFA-83EF-43B5-9E1E-80CD2E6F9647}" dt="2026-04-05T18:19:02.383" v="32" actId="113"/>
        <pc:sldMkLst>
          <pc:docMk/>
          <pc:sldMk cId="0" sldId="258"/>
        </pc:sldMkLst>
        <pc:spChg chg="mod">
          <ac:chgData name="deepak maurya" userId="0589ea4bbbfc12f8" providerId="LiveId" clId="{41AFEFFA-83EF-43B5-9E1E-80CD2E6F9647}" dt="2026-04-05T18:19:02.383" v="32" actId="113"/>
          <ac:spMkLst>
            <pc:docMk/>
            <pc:sldMk cId="0" sldId="258"/>
            <ac:spMk id="5" creationId="{0EA6B9D8-A275-E4AA-E376-54306A962185}"/>
          </ac:spMkLst>
        </pc:spChg>
      </pc:sldChg>
      <pc:sldChg chg="modSp mod">
        <pc:chgData name="deepak maurya" userId="0589ea4bbbfc12f8" providerId="LiveId" clId="{41AFEFFA-83EF-43B5-9E1E-80CD2E6F9647}" dt="2026-04-05T17:48:10.523" v="7" actId="27636"/>
        <pc:sldMkLst>
          <pc:docMk/>
          <pc:sldMk cId="3795444410" sldId="259"/>
        </pc:sldMkLst>
        <pc:spChg chg="mod">
          <ac:chgData name="deepak maurya" userId="0589ea4bbbfc12f8" providerId="LiveId" clId="{41AFEFFA-83EF-43B5-9E1E-80CD2E6F9647}" dt="2026-04-05T17:48:10.523" v="7" actId="27636"/>
          <ac:spMkLst>
            <pc:docMk/>
            <pc:sldMk cId="3795444410" sldId="259"/>
            <ac:spMk id="5" creationId="{6E6A3FE3-78C0-206B-29F7-4F02D426AD4E}"/>
          </ac:spMkLst>
        </pc:spChg>
      </pc:sldChg>
      <pc:sldChg chg="modSp mod">
        <pc:chgData name="deepak maurya" userId="0589ea4bbbfc12f8" providerId="LiveId" clId="{41AFEFFA-83EF-43B5-9E1E-80CD2E6F9647}" dt="2026-04-05T18:17:34.849" v="30" actId="255"/>
        <pc:sldMkLst>
          <pc:docMk/>
          <pc:sldMk cId="3002202489" sldId="260"/>
        </pc:sldMkLst>
        <pc:spChg chg="mod">
          <ac:chgData name="deepak maurya" userId="0589ea4bbbfc12f8" providerId="LiveId" clId="{41AFEFFA-83EF-43B5-9E1E-80CD2E6F9647}" dt="2026-04-05T18:17:34.849" v="30" actId="255"/>
          <ac:spMkLst>
            <pc:docMk/>
            <pc:sldMk cId="3002202489" sldId="260"/>
            <ac:spMk id="3" creationId="{3F167786-E93E-7FC6-4231-48C3B735E630}"/>
          </ac:spMkLst>
        </pc:spChg>
      </pc:sldChg>
      <pc:sldChg chg="modSp mod">
        <pc:chgData name="deepak maurya" userId="0589ea4bbbfc12f8" providerId="LiveId" clId="{41AFEFFA-83EF-43B5-9E1E-80CD2E6F9647}" dt="2026-04-05T18:16:33.230" v="28" actId="20577"/>
        <pc:sldMkLst>
          <pc:docMk/>
          <pc:sldMk cId="2115476743" sldId="262"/>
        </pc:sldMkLst>
        <pc:spChg chg="mod">
          <ac:chgData name="deepak maurya" userId="0589ea4bbbfc12f8" providerId="LiveId" clId="{41AFEFFA-83EF-43B5-9E1E-80CD2E6F9647}" dt="2026-04-05T18:16:33.230" v="28" actId="20577"/>
          <ac:spMkLst>
            <pc:docMk/>
            <pc:sldMk cId="2115476743" sldId="262"/>
            <ac:spMk id="5" creationId="{EAE2E969-A4D7-4C6A-6319-94B20257AE2D}"/>
          </ac:spMkLst>
        </pc:spChg>
      </pc:sldChg>
      <pc:sldChg chg="modSp mod">
        <pc:chgData name="deepak maurya" userId="0589ea4bbbfc12f8" providerId="LiveId" clId="{41AFEFFA-83EF-43B5-9E1E-80CD2E6F9647}" dt="2026-04-12T13:20:57.344" v="41" actId="14100"/>
        <pc:sldMkLst>
          <pc:docMk/>
          <pc:sldMk cId="1664951173" sldId="263"/>
        </pc:sldMkLst>
        <pc:spChg chg="mod">
          <ac:chgData name="deepak maurya" userId="0589ea4bbbfc12f8" providerId="LiveId" clId="{41AFEFFA-83EF-43B5-9E1E-80CD2E6F9647}" dt="2026-04-05T18:21:14.931" v="36" actId="14100"/>
          <ac:spMkLst>
            <pc:docMk/>
            <pc:sldMk cId="1664951173" sldId="263"/>
            <ac:spMk id="5" creationId="{91C2F90F-D2A1-D374-14CF-3CDB4A95E9E6}"/>
          </ac:spMkLst>
        </pc:spChg>
        <pc:spChg chg="mod">
          <ac:chgData name="deepak maurya" userId="0589ea4bbbfc12f8" providerId="LiveId" clId="{41AFEFFA-83EF-43B5-9E1E-80CD2E6F9647}" dt="2026-04-12T13:20:57.344" v="41" actId="14100"/>
          <ac:spMkLst>
            <pc:docMk/>
            <pc:sldMk cId="1664951173" sldId="263"/>
            <ac:spMk id="6" creationId="{BB79EE70-5E0C-E323-9572-E09697A30770}"/>
          </ac:spMkLst>
        </pc:spChg>
      </pc:sldChg>
      <pc:sldChg chg="modSp mod">
        <pc:chgData name="deepak maurya" userId="0589ea4bbbfc12f8" providerId="LiveId" clId="{41AFEFFA-83EF-43B5-9E1E-80CD2E6F9647}" dt="2026-04-05T18:19:45.833" v="34" actId="255"/>
        <pc:sldMkLst>
          <pc:docMk/>
          <pc:sldMk cId="4044246913" sldId="264"/>
        </pc:sldMkLst>
        <pc:spChg chg="mod">
          <ac:chgData name="deepak maurya" userId="0589ea4bbbfc12f8" providerId="LiveId" clId="{41AFEFFA-83EF-43B5-9E1E-80CD2E6F9647}" dt="2026-04-05T18:19:45.833" v="34" actId="255"/>
          <ac:spMkLst>
            <pc:docMk/>
            <pc:sldMk cId="4044246913" sldId="264"/>
            <ac:spMk id="3" creationId="{6A95EFBB-EA43-E708-7935-0963BD2865DA}"/>
          </ac:spMkLst>
        </pc:spChg>
      </pc:sldChg>
      <pc:sldChg chg="modSp mod">
        <pc:chgData name="deepak maurya" userId="0589ea4bbbfc12f8" providerId="LiveId" clId="{41AFEFFA-83EF-43B5-9E1E-80CD2E6F9647}" dt="2026-04-05T17:49:54.115" v="16" actId="20577"/>
        <pc:sldMkLst>
          <pc:docMk/>
          <pc:sldMk cId="4054659210" sldId="267"/>
        </pc:sldMkLst>
        <pc:spChg chg="mod">
          <ac:chgData name="deepak maurya" userId="0589ea4bbbfc12f8" providerId="LiveId" clId="{41AFEFFA-83EF-43B5-9E1E-80CD2E6F9647}" dt="2026-04-05T17:49:54.115" v="16" actId="20577"/>
          <ac:spMkLst>
            <pc:docMk/>
            <pc:sldMk cId="4054659210" sldId="267"/>
            <ac:spMk id="2" creationId="{F1CD81AB-8451-A425-B078-6499D1FFD10F}"/>
          </ac:spMkLst>
        </pc:spChg>
      </pc:sldChg>
      <pc:sldChg chg="modSp mod">
        <pc:chgData name="deepak maurya" userId="0589ea4bbbfc12f8" providerId="LiveId" clId="{41AFEFFA-83EF-43B5-9E1E-80CD2E6F9647}" dt="2026-04-05T18:20:16.538" v="35" actId="12"/>
        <pc:sldMkLst>
          <pc:docMk/>
          <pc:sldMk cId="3657044951" sldId="276"/>
        </pc:sldMkLst>
        <pc:spChg chg="mod">
          <ac:chgData name="deepak maurya" userId="0589ea4bbbfc12f8" providerId="LiveId" clId="{41AFEFFA-83EF-43B5-9E1E-80CD2E6F9647}" dt="2026-04-05T18:20:16.538" v="35" actId="12"/>
          <ac:spMkLst>
            <pc:docMk/>
            <pc:sldMk cId="3657044951" sldId="276"/>
            <ac:spMk id="5" creationId="{5019795E-CECB-E028-565D-BFC4BF61BD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1B9097-E85D-4CF8-9255-9935DE0993C4}" type="datetimeFigureOut">
              <a:rPr lang="en-US" smtClean="0"/>
              <a:t>4/13/2026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E0DD7B-3341-4CAB-AE1D-CE18F97B84E7}" type="slidenum">
              <a:rPr lang="en-US" smtClean="0"/>
              <a:t>‹#›</a:t>
            </a:fld>
            <a:endParaRPr lang="en-US"/>
          </a:p>
        </p:txBody>
      </p:sp>
    </p:spTree>
    <p:extLst>
      <p:ext uri="{BB962C8B-B14F-4D97-AF65-F5344CB8AC3E}">
        <p14:creationId xmlns:p14="http://schemas.microsoft.com/office/powerpoint/2010/main" val="4024715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4/13/2026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4/13/2026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080/00221688609499317" TargetMode="External"/><Relationship Id="rId2" Type="http://schemas.openxmlformats.org/officeDocument/2006/relationships/hyperlink" Target="https://doi.org/10.1061/(ASCE)0733-9429(1997)123:2(125)" TargetMode="Externa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doi.org/10.1061/(ASCE)0733-9429(1992)118:9(1260)"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415457"/>
            <a:ext cx="7086600" cy="3262901"/>
          </a:xfrm>
        </p:spPr>
        <p:txBody>
          <a:bodyPr>
            <a:normAutofit fontScale="90000"/>
          </a:bodyPr>
          <a:lstStyle/>
          <a:p>
            <a:pPr algn="ctr"/>
            <a:r>
              <a:rPr lang="en-US" sz="2400" b="1" dirty="0">
                <a:latin typeface="Times New Roman" pitchFamily="18" charset="0"/>
                <a:cs typeface="Times New Roman" pitchFamily="18" charset="0"/>
              </a:rPr>
              <a:t>1</a:t>
            </a:r>
            <a:r>
              <a:rPr lang="en-US" sz="2400" b="1" baseline="30000" dirty="0">
                <a:latin typeface="Times New Roman" pitchFamily="18" charset="0"/>
                <a:cs typeface="Times New Roman" pitchFamily="18" charset="0"/>
              </a:rPr>
              <a:t>st</a:t>
            </a:r>
            <a:r>
              <a:rPr lang="en-US" sz="2400" b="1" dirty="0">
                <a:latin typeface="Times New Roman" pitchFamily="18" charset="0"/>
                <a:cs typeface="Times New Roman" pitchFamily="18" charset="0"/>
              </a:rPr>
              <a:t> National Conference on Sustainable Civil Engineering &amp; Geospatial Technologies: Materials &amp; Innovations for Climate Resilience</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(NCRT-SCE 2026)</a:t>
            </a:r>
            <a:br>
              <a:rPr lang="en-US" sz="2800" b="1" dirty="0">
                <a:latin typeface="Times New Roman" pitchFamily="18" charset="0"/>
                <a:cs typeface="Times New Roman" pitchFamily="18" charset="0"/>
              </a:rPr>
            </a:br>
            <a:br>
              <a:rPr lang="en-US" sz="2800" b="1" dirty="0">
                <a:latin typeface="Times New Roman" pitchFamily="18" charset="0"/>
                <a:cs typeface="Times New Roman" pitchFamily="18" charset="0"/>
              </a:rPr>
            </a:br>
            <a:r>
              <a:rPr lang="en-US" sz="2400" b="1" dirty="0">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Buddha Institute of  Technology </a:t>
            </a:r>
            <a:br>
              <a:rPr lang="en-US" sz="2400" b="1" dirty="0">
                <a:solidFill>
                  <a:srgbClr val="0070C0"/>
                </a:solidFill>
                <a:latin typeface="Times New Roman" pitchFamily="18" charset="0"/>
                <a:cs typeface="Times New Roman" pitchFamily="18" charset="0"/>
              </a:rPr>
            </a:br>
            <a:r>
              <a:rPr lang="en-US" sz="2400" b="1" dirty="0">
                <a:solidFill>
                  <a:srgbClr val="0070C0"/>
                </a:solidFill>
                <a:latin typeface="Times New Roman" pitchFamily="18" charset="0"/>
                <a:cs typeface="Times New Roman" pitchFamily="18" charset="0"/>
              </a:rPr>
              <a:t>GIDA, Gorakhpur </a:t>
            </a:r>
            <a:br>
              <a:rPr lang="en-US" sz="2400" b="1" dirty="0">
                <a:solidFill>
                  <a:srgbClr val="0070C0"/>
                </a:solidFill>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IN" sz="2400" b="1" dirty="0">
                <a:latin typeface="Times New Roman" pitchFamily="18" charset="0"/>
                <a:cs typeface="Times New Roman" pitchFamily="18" charset="0"/>
              </a:rPr>
              <a:t>Date of Conference: 15</a:t>
            </a:r>
            <a:r>
              <a:rPr lang="en-IN" sz="2400" b="1" baseline="30000" dirty="0">
                <a:latin typeface="Times New Roman" pitchFamily="18" charset="0"/>
                <a:cs typeface="Times New Roman" pitchFamily="18" charset="0"/>
              </a:rPr>
              <a:t>th</a:t>
            </a:r>
            <a:r>
              <a:rPr lang="en-IN" sz="2400" b="1" dirty="0">
                <a:latin typeface="Times New Roman" pitchFamily="18" charset="0"/>
                <a:cs typeface="Times New Roman" pitchFamily="18" charset="0"/>
              </a:rPr>
              <a:t> – 16</a:t>
            </a:r>
            <a:r>
              <a:rPr lang="en-IN" sz="2400" b="1" baseline="30000" dirty="0">
                <a:latin typeface="Times New Roman" pitchFamily="18" charset="0"/>
                <a:cs typeface="Times New Roman" pitchFamily="18" charset="0"/>
              </a:rPr>
              <a:t>th</a:t>
            </a:r>
            <a:r>
              <a:rPr lang="en-IN" sz="2400" b="1" dirty="0">
                <a:latin typeface="Times New Roman" pitchFamily="18" charset="0"/>
                <a:cs typeface="Times New Roman" pitchFamily="18" charset="0"/>
              </a:rPr>
              <a:t> April 2026</a:t>
            </a:r>
            <a:endParaRPr lang="en-US" sz="3600" dirty="0">
              <a:latin typeface="Times New Roman" pitchFamily="18" charset="0"/>
              <a:cs typeface="Times New Roman" pitchFamily="18" charset="0"/>
            </a:endParaRPr>
          </a:p>
        </p:txBody>
      </p:sp>
      <p:sp>
        <p:nvSpPr>
          <p:cNvPr id="3" name="Subtitle 2"/>
          <p:cNvSpPr>
            <a:spLocks noGrp="1"/>
          </p:cNvSpPr>
          <p:nvPr>
            <p:ph type="subTitle" idx="1"/>
          </p:nvPr>
        </p:nvSpPr>
        <p:spPr>
          <a:xfrm>
            <a:off x="914400" y="3962400"/>
            <a:ext cx="8077200" cy="1115010"/>
          </a:xfrm>
        </p:spPr>
        <p:txBody>
          <a:bodyPr>
            <a:normAutofit fontScale="92500" lnSpcReduction="10000"/>
          </a:bodyPr>
          <a:lstStyle/>
          <a:p>
            <a:pPr algn="ctr"/>
            <a:r>
              <a:rPr lang="en-US" altLang="en-US" b="1" dirty="0">
                <a:solidFill>
                  <a:schemeClr val="tx1"/>
                </a:solidFill>
                <a:latin typeface="Times New Roman" pitchFamily="18" charset="0"/>
                <a:cs typeface="Times New Roman" pitchFamily="18" charset="0"/>
              </a:rPr>
              <a:t> “</a:t>
            </a:r>
            <a:r>
              <a:rPr lang="en-IN" b="1" dirty="0"/>
              <a:t>Scour depth and local velocity fields impact the performance of bridge piers : Relevant for offshore or large bridges”</a:t>
            </a:r>
            <a:r>
              <a:rPr lang="en-US" altLang="en-US" b="1" dirty="0">
                <a:solidFill>
                  <a:schemeClr val="tx1"/>
                </a:solidFill>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pic>
        <p:nvPicPr>
          <p:cNvPr id="5" name="Picture 4"/>
          <p:cNvPicPr>
            <a:picLocks noChangeAspect="1"/>
          </p:cNvPicPr>
          <p:nvPr/>
        </p:nvPicPr>
        <p:blipFill>
          <a:blip r:embed="rId2"/>
          <a:stretch>
            <a:fillRect/>
          </a:stretch>
        </p:blipFill>
        <p:spPr>
          <a:xfrm>
            <a:off x="228600" y="304800"/>
            <a:ext cx="1610544" cy="1451759"/>
          </a:xfrm>
          <a:prstGeom prst="rect">
            <a:avLst/>
          </a:prstGeom>
        </p:spPr>
      </p:pic>
      <p:sp>
        <p:nvSpPr>
          <p:cNvPr id="7" name="Text Placeholder 3"/>
          <p:cNvSpPr txBox="1">
            <a:spLocks/>
          </p:cNvSpPr>
          <p:nvPr/>
        </p:nvSpPr>
        <p:spPr>
          <a:xfrm>
            <a:off x="6096000" y="5105399"/>
            <a:ext cx="3159303" cy="1482075"/>
          </a:xfrm>
          <a:prstGeom prst="rect">
            <a:avLst/>
          </a:prstGeom>
        </p:spPr>
        <p:txBody>
          <a:bodyPr>
            <a:noAutofit/>
          </a:bodyPr>
          <a:lst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lgn="ctr">
              <a:buNone/>
            </a:pPr>
            <a:r>
              <a:rPr lang="en-US" sz="1800" b="1" dirty="0">
                <a:solidFill>
                  <a:schemeClr val="tx1">
                    <a:lumMod val="65000"/>
                    <a:lumOff val="35000"/>
                  </a:schemeClr>
                </a:solidFill>
                <a:latin typeface="Times New Roman" pitchFamily="18" charset="0"/>
                <a:cs typeface="Times New Roman" pitchFamily="18" charset="0"/>
              </a:rPr>
              <a:t>Presented By: </a:t>
            </a: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Abhishek</a:t>
            </a: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2205250000001</a:t>
            </a: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4th Year</a:t>
            </a:r>
          </a:p>
        </p:txBody>
      </p:sp>
      <p:sp>
        <p:nvSpPr>
          <p:cNvPr id="8" name="Text Placeholder 3">
            <a:extLst>
              <a:ext uri="{FF2B5EF4-FFF2-40B4-BE49-F238E27FC236}">
                <a16:creationId xmlns:a16="http://schemas.microsoft.com/office/drawing/2014/main" id="{0125232B-5B54-02E3-4D0D-862665D5DDB4}"/>
              </a:ext>
            </a:extLst>
          </p:cNvPr>
          <p:cNvSpPr txBox="1">
            <a:spLocks/>
          </p:cNvSpPr>
          <p:nvPr/>
        </p:nvSpPr>
        <p:spPr>
          <a:xfrm>
            <a:off x="380999" y="5162999"/>
            <a:ext cx="3906175" cy="1482075"/>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Font typeface="Wingdings 3" charset="2"/>
              <a:buNone/>
              <a:defRPr lang="en-US" sz="1800" kern="1200">
                <a:solidFill>
                  <a:schemeClr val="tx1">
                    <a:lumMod val="65000"/>
                    <a:lumOff val="3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ctr"/>
            <a:r>
              <a:rPr lang="en-US" b="1" dirty="0">
                <a:latin typeface="Times New Roman" pitchFamily="18" charset="0"/>
                <a:cs typeface="Times New Roman" pitchFamily="18" charset="0"/>
              </a:rPr>
              <a:t>Under the Guidance</a:t>
            </a:r>
          </a:p>
          <a:p>
            <a:pPr algn="ctr"/>
            <a:r>
              <a:rPr lang="en-US" dirty="0">
                <a:latin typeface="Times New Roman" panose="02020603050405020304" pitchFamily="18" charset="0"/>
                <a:cs typeface="Times New Roman" panose="02020603050405020304" pitchFamily="18" charset="0"/>
              </a:rPr>
              <a:t>Mr. Baijnath Nishad</a:t>
            </a:r>
          </a:p>
          <a:p>
            <a:pPr algn="ctr"/>
            <a:r>
              <a:rPr lang="en-US" dirty="0">
                <a:latin typeface="Times New Roman" panose="02020603050405020304" pitchFamily="18" charset="0"/>
                <a:cs typeface="Times New Roman" panose="02020603050405020304" pitchFamily="18" charset="0"/>
              </a:rPr>
              <a:t>Assistant Professor</a:t>
            </a:r>
          </a:p>
        </p:txBody>
      </p:sp>
      <p:sp>
        <p:nvSpPr>
          <p:cNvPr id="9" name="Footer Placeholder 3"/>
          <p:cNvSpPr txBox="1">
            <a:spLocks/>
          </p:cNvSpPr>
          <p:nvPr/>
        </p:nvSpPr>
        <p:spPr>
          <a:xfrm>
            <a:off x="2133600" y="6562051"/>
            <a:ext cx="5486400" cy="457200"/>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latin typeface="Times New Roman" panose="02020603050405020304" pitchFamily="18" charset="0"/>
                <a:cs typeface="Times New Roman" panose="02020603050405020304" pitchFamily="18" charset="0"/>
              </a:rPr>
              <a:t> Department of Civil Engineering, BIT Gorakhpur</a:t>
            </a:r>
          </a:p>
          <a:p>
            <a:endParaRPr lang="en-US" sz="24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4800"/>
            <a:ext cx="7406640" cy="783102"/>
          </a:xfrm>
        </p:spPr>
        <p:txBody>
          <a:bodyPr/>
          <a:lstStyle/>
          <a:p>
            <a:r>
              <a:rPr lang="en-US" dirty="0">
                <a:solidFill>
                  <a:srgbClr val="0070C0"/>
                </a:solidFill>
              </a:rPr>
              <a:t>Contents</a:t>
            </a:r>
            <a:endParaRPr lang="en-US" dirty="0"/>
          </a:p>
        </p:txBody>
      </p:sp>
      <p:sp>
        <p:nvSpPr>
          <p:cNvPr id="3" name="Subtitle 2"/>
          <p:cNvSpPr>
            <a:spLocks noGrp="1"/>
          </p:cNvSpPr>
          <p:nvPr>
            <p:ph type="subTitle" idx="1"/>
          </p:nvPr>
        </p:nvSpPr>
        <p:spPr>
          <a:xfrm>
            <a:off x="1524000" y="1562100"/>
            <a:ext cx="7406640" cy="3733800"/>
          </a:xfrm>
        </p:spPr>
        <p:txBody>
          <a:bodyPr>
            <a:noAutofit/>
          </a:bodyPr>
          <a:lstStyle/>
          <a:p>
            <a:pPr>
              <a:spcBef>
                <a:spcPts val="1200"/>
              </a:spcBef>
              <a:buFont typeface="Arial" panose="020B0604020202020204" pitchFamily="34" charset="0"/>
              <a:buChar char="•"/>
              <a:defRPr/>
            </a:pPr>
            <a:r>
              <a:rPr lang="en-US" sz="2000" dirty="0">
                <a:solidFill>
                  <a:schemeClr val="tx2">
                    <a:lumMod val="75000"/>
                  </a:schemeClr>
                </a:solidFill>
              </a:rPr>
              <a:t>Introduction</a:t>
            </a:r>
          </a:p>
          <a:p>
            <a:pPr>
              <a:spcBef>
                <a:spcPts val="1200"/>
              </a:spcBef>
              <a:buFont typeface="Arial" panose="020B0604020202020204" pitchFamily="34" charset="0"/>
              <a:buChar char="•"/>
              <a:defRPr/>
            </a:pPr>
            <a:r>
              <a:rPr lang="en-IN" sz="2000" dirty="0"/>
              <a:t>Problem Statement</a:t>
            </a:r>
          </a:p>
          <a:p>
            <a:pPr>
              <a:spcBef>
                <a:spcPts val="1200"/>
              </a:spcBef>
              <a:buFont typeface="Arial" panose="020B0604020202020204" pitchFamily="34" charset="0"/>
              <a:buChar char="•"/>
              <a:defRPr/>
            </a:pPr>
            <a:r>
              <a:rPr lang="en-IN" sz="2000" dirty="0"/>
              <a:t>Objectives</a:t>
            </a:r>
            <a:endParaRPr lang="en-US" sz="2000" dirty="0">
              <a:solidFill>
                <a:schemeClr val="tx2">
                  <a:lumMod val="75000"/>
                </a:schemeClr>
              </a:solidFill>
            </a:endParaRPr>
          </a:p>
          <a:p>
            <a:pPr>
              <a:spcBef>
                <a:spcPts val="1200"/>
              </a:spcBef>
              <a:buFont typeface="Arial" panose="020B0604020202020204" pitchFamily="34" charset="0"/>
              <a:buChar char="•"/>
              <a:defRPr/>
            </a:pPr>
            <a:r>
              <a:rPr lang="en-US" sz="2000" dirty="0">
                <a:solidFill>
                  <a:schemeClr val="tx2">
                    <a:lumMod val="75000"/>
                  </a:schemeClr>
                </a:solidFill>
              </a:rPr>
              <a:t>Literature Survey</a:t>
            </a:r>
          </a:p>
          <a:p>
            <a:pPr>
              <a:spcBef>
                <a:spcPts val="1200"/>
              </a:spcBef>
              <a:buFont typeface="Arial" panose="020B0604020202020204" pitchFamily="34" charset="0"/>
              <a:buChar char="•"/>
              <a:defRPr/>
            </a:pPr>
            <a:r>
              <a:rPr lang="en-US" sz="2000" dirty="0">
                <a:solidFill>
                  <a:schemeClr val="tx2">
                    <a:lumMod val="75000"/>
                  </a:schemeClr>
                </a:solidFill>
              </a:rPr>
              <a:t>Proposed Solution / Methodology</a:t>
            </a:r>
          </a:p>
          <a:p>
            <a:pPr>
              <a:spcBef>
                <a:spcPts val="1200"/>
              </a:spcBef>
              <a:buFont typeface="Arial" panose="020B0604020202020204" pitchFamily="34" charset="0"/>
              <a:buChar char="•"/>
              <a:defRPr/>
            </a:pPr>
            <a:r>
              <a:rPr lang="en-US" sz="2000" dirty="0">
                <a:solidFill>
                  <a:schemeClr val="tx2">
                    <a:lumMod val="75000"/>
                  </a:schemeClr>
                </a:solidFill>
              </a:rPr>
              <a:t>Results &amp; Analysis</a:t>
            </a:r>
          </a:p>
          <a:p>
            <a:pPr>
              <a:spcBef>
                <a:spcPts val="1200"/>
              </a:spcBef>
              <a:buFont typeface="Arial" panose="020B0604020202020204" pitchFamily="34" charset="0"/>
              <a:buChar char="•"/>
              <a:defRPr/>
            </a:pPr>
            <a:r>
              <a:rPr lang="en-US" sz="2000" dirty="0">
                <a:solidFill>
                  <a:schemeClr val="tx2">
                    <a:lumMod val="75000"/>
                  </a:schemeClr>
                </a:solidFill>
              </a:rPr>
              <a:t>Conclusion &amp; Future Work</a:t>
            </a:r>
          </a:p>
          <a:p>
            <a:pPr>
              <a:spcBef>
                <a:spcPts val="1200"/>
              </a:spcBef>
              <a:buFont typeface="Arial" panose="020B0604020202020204" pitchFamily="34" charset="0"/>
              <a:buChar char="•"/>
              <a:defRPr/>
            </a:pPr>
            <a:r>
              <a:rPr lang="en-US" sz="2000" dirty="0">
                <a:solidFill>
                  <a:schemeClr val="tx2">
                    <a:lumMod val="75000"/>
                  </a:schemeClr>
                </a:solidFill>
              </a:rPr>
              <a:t>Acknowledgements</a:t>
            </a:r>
          </a:p>
          <a:p>
            <a:pPr>
              <a:spcBef>
                <a:spcPts val="1200"/>
              </a:spcBef>
              <a:buFont typeface="Arial" panose="020B0604020202020204" pitchFamily="34" charset="0"/>
              <a:buChar char="•"/>
              <a:defRPr/>
            </a:pPr>
            <a:r>
              <a:rPr lang="en-US" sz="2000" dirty="0">
                <a:solidFill>
                  <a:schemeClr val="tx2">
                    <a:lumMod val="75000"/>
                  </a:schemeClr>
                </a:solidFill>
              </a:rPr>
              <a:t>References</a:t>
            </a:r>
          </a:p>
          <a:p>
            <a:endParaRPr lang="en-US" sz="2000" dirty="0"/>
          </a:p>
        </p:txBody>
      </p:sp>
      <p:pic>
        <p:nvPicPr>
          <p:cNvPr id="4" name="Picture 3"/>
          <p:cNvPicPr>
            <a:picLocks noChangeAspect="1"/>
          </p:cNvPicPr>
          <p:nvPr/>
        </p:nvPicPr>
        <p:blipFill>
          <a:blip r:embed="rId2"/>
          <a:stretch>
            <a:fillRect/>
          </a:stretch>
        </p:blipFill>
        <p:spPr>
          <a:xfrm>
            <a:off x="152400" y="138869"/>
            <a:ext cx="1563130" cy="14090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463452" y="1266054"/>
            <a:ext cx="7406640" cy="1752600"/>
          </a:xfrm>
        </p:spPr>
        <p:txBody>
          <a:bodyPr>
            <a:normAutofit fontScale="85000" lnSpcReduction="20000"/>
          </a:bodyPr>
          <a:lstStyle/>
          <a:p>
            <a:r>
              <a:rPr lang="en-IN" sz="2200" b="1" dirty="0">
                <a:latin typeface="Times New Roman" panose="02020603050405020304" pitchFamily="18" charset="0"/>
                <a:cs typeface="Times New Roman" panose="02020603050405020304" pitchFamily="18" charset="0"/>
              </a:rPr>
              <a:t>Background: </a:t>
            </a:r>
          </a:p>
          <a:p>
            <a:pPr marL="370332" indent="-342900">
              <a:buClr>
                <a:schemeClr val="tx1"/>
              </a:buClr>
              <a:buFont typeface="Wingdings" panose="05000000000000000000" pitchFamily="2" charset="2"/>
              <a:buChar char="Ø"/>
            </a:pPr>
            <a:r>
              <a:rPr lang="en-IN" sz="2100" dirty="0"/>
              <a:t>Scour is the removal of soil around bridge piers caused by flowing water, which weakens the foundation.</a:t>
            </a:r>
          </a:p>
          <a:p>
            <a:pPr marL="370332" indent="-342900">
              <a:buClr>
                <a:schemeClr val="tx1"/>
              </a:buClr>
              <a:buFont typeface="Wingdings" panose="05000000000000000000" pitchFamily="2" charset="2"/>
              <a:buChar char="Ø"/>
            </a:pPr>
            <a:r>
              <a:rPr lang="en-IN" sz="2100" dirty="0"/>
              <a:t>It commonly occurs in rivers and is a major concern in hydraulic engineering.</a:t>
            </a:r>
          </a:p>
          <a:p>
            <a:pPr marL="370332" indent="-342900">
              <a:buClr>
                <a:schemeClr val="tx1"/>
              </a:buClr>
              <a:buFont typeface="Wingdings" panose="05000000000000000000" pitchFamily="2" charset="2"/>
              <a:buChar char="Ø"/>
            </a:pPr>
            <a:r>
              <a:rPr lang="en-IN" sz="2100" dirty="0"/>
              <a:t>Understanding scour is essential for safe bridge construction.</a:t>
            </a:r>
          </a:p>
          <a:p>
            <a:pPr marL="484632" indent="-457200">
              <a:buClr>
                <a:schemeClr val="tx1"/>
              </a:buClr>
              <a:buFont typeface="Wingdings" panose="05000000000000000000" pitchFamily="2" charset="2"/>
              <a:buChar char="Ø"/>
            </a:pPr>
            <a:endParaRPr lang="en-IN" sz="2300" dirty="0">
              <a:solidFill>
                <a:schemeClr val="tx1"/>
              </a:solidFill>
              <a:latin typeface="Times New Roman" panose="02020603050405020304" pitchFamily="18" charset="0"/>
              <a:cs typeface="Times New Roman" panose="02020603050405020304" pitchFamily="18" charset="0"/>
            </a:endParaRPr>
          </a:p>
          <a:p>
            <a:pPr marL="484632" indent="-4572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0EA6B9D8-A275-E4AA-E376-54306A962185}"/>
              </a:ext>
            </a:extLst>
          </p:cNvPr>
          <p:cNvSpPr txBox="1">
            <a:spLocks/>
          </p:cNvSpPr>
          <p:nvPr/>
        </p:nvSpPr>
        <p:spPr>
          <a:xfrm>
            <a:off x="1338422" y="2963047"/>
            <a:ext cx="7726268" cy="1752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Importance:</a:t>
            </a:r>
          </a:p>
          <a:p>
            <a:pPr marL="313182" indent="-285750">
              <a:buClr>
                <a:schemeClr val="tx1"/>
              </a:buClr>
              <a:buFont typeface="Wingdings" panose="05000000000000000000" pitchFamily="2" charset="2"/>
              <a:buChar char="Ø"/>
            </a:pPr>
            <a:r>
              <a:rPr lang="en-IN" sz="1800" dirty="0"/>
              <a:t>Scour is one of the leading causes of bridge failure worldwide.</a:t>
            </a:r>
            <a:br>
              <a:rPr lang="en-IN" sz="1800" dirty="0"/>
            </a:br>
            <a:r>
              <a:rPr lang="en-IN" sz="1800" dirty="0"/>
              <a:t>High flow velocity increases erosion and reduces structural stability.</a:t>
            </a:r>
          </a:p>
          <a:p>
            <a:pPr marL="313182" indent="-285750">
              <a:buClr>
                <a:schemeClr val="tx1"/>
              </a:buClr>
              <a:buFont typeface="Wingdings" panose="05000000000000000000" pitchFamily="2" charset="2"/>
              <a:buChar char="Ø"/>
            </a:pPr>
            <a:r>
              <a:rPr lang="en-IN" sz="1800" dirty="0"/>
              <a:t>Proper analysis helps in preventing accidents and economic loss.</a:t>
            </a:r>
            <a:endParaRPr lang="en-IN" sz="1800" b="1" dirty="0">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A7CAA173-1B2C-5E26-07FE-95B4DC920CC2}"/>
              </a:ext>
            </a:extLst>
          </p:cNvPr>
          <p:cNvSpPr txBox="1">
            <a:spLocks/>
          </p:cNvSpPr>
          <p:nvPr/>
        </p:nvSpPr>
        <p:spPr>
          <a:xfrm>
            <a:off x="1303638" y="4572000"/>
            <a:ext cx="7726268" cy="1752600"/>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Context: </a:t>
            </a:r>
          </a:p>
          <a:p>
            <a:pPr marL="313182" indent="-285750">
              <a:buClr>
                <a:schemeClr val="tx1"/>
              </a:buClr>
              <a:buFont typeface="Wingdings" panose="05000000000000000000" pitchFamily="2" charset="2"/>
              <a:buChar char="Ø"/>
            </a:pPr>
            <a:r>
              <a:rPr lang="en-IN" sz="1800" dirty="0"/>
              <a:t>Rapid infrastructure development requires safe and durable bridge design.</a:t>
            </a:r>
          </a:p>
          <a:p>
            <a:pPr marL="313182" indent="-285750">
              <a:buClr>
                <a:schemeClr val="tx1"/>
              </a:buClr>
              <a:buFont typeface="Wingdings" panose="05000000000000000000" pitchFamily="2" charset="2"/>
              <a:buChar char="Ø"/>
            </a:pPr>
            <a:r>
              <a:rPr lang="en-IN" sz="1800" dirty="0"/>
              <a:t>Studying local velocity and scour depth improves foundation performance.</a:t>
            </a:r>
          </a:p>
          <a:p>
            <a:pPr marL="313182" indent="-285750">
              <a:buClr>
                <a:schemeClr val="tx1"/>
              </a:buClr>
              <a:buFont typeface="Wingdings" panose="05000000000000000000" pitchFamily="2" charset="2"/>
              <a:buChar char="Ø"/>
            </a:pPr>
            <a:r>
              <a:rPr lang="en-IN" sz="1800" dirty="0"/>
              <a:t>This project focuses on </a:t>
            </a:r>
            <a:r>
              <a:rPr lang="en-IN" sz="1800" dirty="0" err="1"/>
              <a:t>analyzing</a:t>
            </a:r>
            <a:r>
              <a:rPr lang="en-IN" sz="1800" dirty="0"/>
              <a:t> their relationship for better safety.</a:t>
            </a:r>
          </a:p>
          <a:p>
            <a:endParaRPr lang="en-IN"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AE7CB227-DC04-41FE-1453-488DA1024507}"/>
              </a:ext>
            </a:extLst>
          </p:cNvPr>
          <p:cNvSpPr txBox="1">
            <a:spLocks/>
          </p:cNvSpPr>
          <p:nvPr/>
        </p:nvSpPr>
        <p:spPr>
          <a:xfrm>
            <a:off x="1981200" y="5943600"/>
            <a:ext cx="6629400" cy="6858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US" sz="1900" b="1" dirty="0">
                <a:latin typeface="Times New Roman" panose="02020603050405020304" pitchFamily="18" charset="0"/>
                <a:cs typeface="Times New Roman" panose="02020603050405020304" pitchFamily="18" charset="0"/>
              </a:rPr>
              <a:t>Fig. 1</a:t>
            </a:r>
            <a:r>
              <a:rPr lang="en-US" sz="2200" b="1" dirty="0">
                <a:latin typeface="Times New Roman" panose="02020603050405020304" pitchFamily="18" charset="0"/>
                <a:cs typeface="Times New Roman" panose="02020603050405020304" pitchFamily="18" charset="0"/>
              </a:rPr>
              <a:t>: </a:t>
            </a:r>
            <a:r>
              <a:rPr lang="en-IN" sz="1700" dirty="0">
                <a:latin typeface="Times New Roman" panose="02020603050405020304" pitchFamily="18" charset="0"/>
                <a:cs typeface="Times New Roman" panose="02020603050405020304" pitchFamily="18" charset="0"/>
              </a:rPr>
              <a:t>Effect of Scour and Local Flow Fields on Offshore and Bridge Pier Stability</a:t>
            </a:r>
            <a:endParaRPr lang="en-IN" sz="1700" dirty="0">
              <a:solidFill>
                <a:schemeClr val="tx1"/>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2C22FB16-FA53-C5CB-0093-3DE4523CB7CF}"/>
              </a:ext>
            </a:extLst>
          </p:cNvPr>
          <p:cNvPicPr>
            <a:picLocks noChangeAspect="1"/>
          </p:cNvPicPr>
          <p:nvPr/>
        </p:nvPicPr>
        <p:blipFill>
          <a:blip r:embed="rId2"/>
          <a:stretch>
            <a:fillRect/>
          </a:stretch>
        </p:blipFill>
        <p:spPr>
          <a:xfrm>
            <a:off x="152400" y="152400"/>
            <a:ext cx="1561556" cy="1407600"/>
          </a:xfrm>
          <a:prstGeom prst="rect">
            <a:avLst/>
          </a:prstGeom>
        </p:spPr>
      </p:pic>
      <p:pic>
        <p:nvPicPr>
          <p:cNvPr id="14" name="Picture 13">
            <a:extLst>
              <a:ext uri="{FF2B5EF4-FFF2-40B4-BE49-F238E27FC236}">
                <a16:creationId xmlns:a16="http://schemas.microsoft.com/office/drawing/2014/main" id="{B2B4981E-CD5F-E5B4-FD12-BCFD074B40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2783" y="685800"/>
            <a:ext cx="7168304" cy="5181600"/>
          </a:xfrm>
          <a:prstGeom prst="rect">
            <a:avLst/>
          </a:prstGeom>
        </p:spPr>
      </p:pic>
    </p:spTree>
    <p:extLst>
      <p:ext uri="{BB962C8B-B14F-4D97-AF65-F5344CB8AC3E}">
        <p14:creationId xmlns:p14="http://schemas.microsoft.com/office/powerpoint/2010/main" val="2832663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EC898-EE25-57C1-C86E-A59D09122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259E3-8475-1EA1-7A22-69F2989E02BE}"/>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Problem Statement</a:t>
            </a:r>
            <a:endParaRPr lang="en-US" dirty="0"/>
          </a:p>
        </p:txBody>
      </p:sp>
      <p:pic>
        <p:nvPicPr>
          <p:cNvPr id="4" name="Picture 3">
            <a:extLst>
              <a:ext uri="{FF2B5EF4-FFF2-40B4-BE49-F238E27FC236}">
                <a16:creationId xmlns:a16="http://schemas.microsoft.com/office/drawing/2014/main" id="{617010BF-24AE-04E9-FE2F-B87EF594ECD3}"/>
              </a:ext>
            </a:extLst>
          </p:cNvPr>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6E6A3FE3-78C0-206B-29F7-4F02D426AD4E}"/>
              </a:ext>
            </a:extLst>
          </p:cNvPr>
          <p:cNvSpPr txBox="1">
            <a:spLocks/>
          </p:cNvSpPr>
          <p:nvPr/>
        </p:nvSpPr>
        <p:spPr>
          <a:xfrm>
            <a:off x="1341532" y="1514478"/>
            <a:ext cx="7406640" cy="1407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Define the Problem: </a:t>
            </a:r>
          </a:p>
          <a:p>
            <a:pPr marL="370332" indent="-342900">
              <a:buClrTx/>
              <a:buFont typeface="Wingdings" panose="05000000000000000000" pitchFamily="2" charset="2"/>
              <a:buChar char="Ø"/>
            </a:pPr>
            <a:r>
              <a:rPr lang="en-IN" sz="1800" dirty="0"/>
              <a:t>Scour reduces the strength of bridge foundations.</a:t>
            </a:r>
          </a:p>
          <a:p>
            <a:pPr marL="370332" indent="-342900">
              <a:buClrTx/>
              <a:buFont typeface="Wingdings" panose="05000000000000000000" pitchFamily="2" charset="2"/>
              <a:buChar char="Ø"/>
            </a:pPr>
            <a:r>
              <a:rPr lang="en-IN" sz="1800" dirty="0"/>
              <a:t>It affects stability of the entire structure.</a:t>
            </a:r>
          </a:p>
          <a:p>
            <a:pPr marL="370332" indent="-342900">
              <a:buClrTx/>
              <a:buFont typeface="Wingdings" panose="05000000000000000000" pitchFamily="2" charset="2"/>
              <a:buChar char="Ø"/>
            </a:pPr>
            <a:r>
              <a:rPr lang="en-IN" sz="1800" dirty="0"/>
              <a:t>Improper design increases failure risk.</a:t>
            </a:r>
            <a:endParaRPr lang="en-IN" sz="1800" b="1" dirty="0">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9D5E95D3-93D3-6F15-351D-5333F27CEE92}"/>
              </a:ext>
            </a:extLst>
          </p:cNvPr>
          <p:cNvSpPr txBox="1">
            <a:spLocks/>
          </p:cNvSpPr>
          <p:nvPr/>
        </p:nvSpPr>
        <p:spPr>
          <a:xfrm>
            <a:off x="1341532" y="3117911"/>
            <a:ext cx="7406640" cy="1388515"/>
          </a:xfrm>
          <a:prstGeom prst="rect">
            <a:avLst/>
          </a:prstGeom>
        </p:spPr>
        <p:txBody>
          <a:bodyPr tIns="0">
            <a:normAutofit lnSpcReduction="10000"/>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Why it matters: </a:t>
            </a:r>
          </a:p>
          <a:p>
            <a:pPr marL="313182" indent="-285750">
              <a:buClr>
                <a:schemeClr val="tx1"/>
              </a:buClr>
              <a:buFont typeface="Wingdings" panose="05000000000000000000" pitchFamily="2" charset="2"/>
              <a:buChar char="Ø"/>
            </a:pPr>
            <a:r>
              <a:rPr lang="en-IN" sz="1800" dirty="0"/>
              <a:t>Can cause bridge collapse and accidents.</a:t>
            </a:r>
          </a:p>
          <a:p>
            <a:pPr marL="313182" indent="-285750">
              <a:buClr>
                <a:schemeClr val="tx1"/>
              </a:buClr>
              <a:buFont typeface="Wingdings" panose="05000000000000000000" pitchFamily="2" charset="2"/>
              <a:buChar char="Ø"/>
            </a:pPr>
            <a:r>
              <a:rPr lang="en-IN" sz="1800" dirty="0"/>
              <a:t>Leads to economic loss and safety issues.</a:t>
            </a:r>
          </a:p>
          <a:p>
            <a:pPr marL="313182" indent="-285750">
              <a:buClr>
                <a:schemeClr val="tx1"/>
              </a:buClr>
              <a:buFont typeface="Wingdings" panose="05000000000000000000" pitchFamily="2" charset="2"/>
              <a:buChar char="Ø"/>
            </a:pPr>
            <a:r>
              <a:rPr lang="en-IN" sz="1800" dirty="0"/>
              <a:t>Affects long-term durability of structures</a:t>
            </a:r>
          </a:p>
          <a:p>
            <a:pPr>
              <a:buClr>
                <a:schemeClr val="tx1"/>
              </a:buClr>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D91031E3-04EF-7F1D-2B67-13BAC138B697}"/>
              </a:ext>
            </a:extLst>
          </p:cNvPr>
          <p:cNvSpPr txBox="1">
            <a:spLocks/>
          </p:cNvSpPr>
          <p:nvPr/>
        </p:nvSpPr>
        <p:spPr>
          <a:xfrm>
            <a:off x="1341532" y="4506426"/>
            <a:ext cx="7406640" cy="1589573"/>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000" b="1" dirty="0">
                <a:latin typeface="Times New Roman" panose="02020603050405020304" pitchFamily="18" charset="0"/>
                <a:cs typeface="Times New Roman" panose="02020603050405020304" pitchFamily="18" charset="0"/>
              </a:rPr>
              <a:t>Current Gap: </a:t>
            </a:r>
          </a:p>
          <a:p>
            <a:pPr marL="370332" indent="-342900">
              <a:buClr>
                <a:schemeClr val="tx1"/>
              </a:buClr>
              <a:buFont typeface="Wingdings" panose="05000000000000000000" pitchFamily="2" charset="2"/>
              <a:buChar char="Ø"/>
            </a:pPr>
            <a:r>
              <a:rPr lang="en-IN" sz="2000" dirty="0"/>
              <a:t>Limited research on combined effect of parameters.</a:t>
            </a:r>
          </a:p>
          <a:p>
            <a:pPr marL="370332" indent="-342900">
              <a:buClr>
                <a:schemeClr val="tx1"/>
              </a:buClr>
              <a:buFont typeface="Wingdings" panose="05000000000000000000" pitchFamily="2" charset="2"/>
              <a:buChar char="Ø"/>
            </a:pPr>
            <a:r>
              <a:rPr lang="en-IN" sz="2000" dirty="0"/>
              <a:t>Lack of accurate prediction models.</a:t>
            </a:r>
          </a:p>
          <a:p>
            <a:pPr marL="370332" indent="-342900">
              <a:buClr>
                <a:schemeClr val="tx1"/>
              </a:buClr>
              <a:buFont typeface="Wingdings" panose="05000000000000000000" pitchFamily="2" charset="2"/>
              <a:buChar char="Ø"/>
            </a:pPr>
            <a:r>
              <a:rPr lang="en-IN" sz="2000" dirty="0"/>
              <a:t>Need for detailed analysis of velocity and scour.</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5444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A00C-D026-1CBE-7D43-6F350EBB0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5CA94-A1B7-679A-593A-58BB6FBC0F42}"/>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F167786-E93E-7FC6-4231-48C3B735E630}"/>
              </a:ext>
            </a:extLst>
          </p:cNvPr>
          <p:cNvSpPr>
            <a:spLocks noGrp="1"/>
          </p:cNvSpPr>
          <p:nvPr>
            <p:ph type="subTitle" idx="1"/>
          </p:nvPr>
        </p:nvSpPr>
        <p:spPr>
          <a:xfrm>
            <a:off x="1325048" y="1600200"/>
            <a:ext cx="7832948" cy="3164400"/>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Objective 1</a:t>
            </a:r>
            <a:r>
              <a:rPr lang="en-US" sz="2800" b="1" dirty="0">
                <a:latin typeface="Times New Roman" panose="02020603050405020304" pitchFamily="18" charset="0"/>
                <a:cs typeface="Times New Roman" panose="02020603050405020304" pitchFamily="18" charset="0"/>
              </a:rPr>
              <a:t>:</a:t>
            </a:r>
            <a:r>
              <a:rPr lang="en-IN" dirty="0"/>
              <a:t>To study the scour depth around bridge piers under flowing water conditions.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Objective 2:</a:t>
            </a:r>
            <a:r>
              <a:rPr lang="en-IN" dirty="0"/>
              <a:t>To </a:t>
            </a:r>
            <a:r>
              <a:rPr lang="en-IN" dirty="0" err="1"/>
              <a:t>analyze</a:t>
            </a:r>
            <a:r>
              <a:rPr lang="en-IN" dirty="0"/>
              <a:t> the effect of local velocity on soil erosion and scour formation.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Objective 3:</a:t>
            </a:r>
            <a:r>
              <a:rPr lang="en-IN" dirty="0"/>
              <a:t>To improve the safety and design efficiency of bridge foundations.</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E891B4D-0338-375B-20C5-A4A95F220A86}"/>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3002202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8FB5E-3E34-BFF7-7088-83E6CF88F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FB080-8A67-B3F4-33DF-42350D960632}"/>
              </a:ext>
            </a:extLst>
          </p:cNvPr>
          <p:cNvSpPr>
            <a:spLocks noGrp="1"/>
          </p:cNvSpPr>
          <p:nvPr>
            <p:ph type="ctrTitle"/>
          </p:nvPr>
        </p:nvSpPr>
        <p:spPr>
          <a:xfrm>
            <a:off x="1447799" y="336848"/>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Literature Survey</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DFC313E-27A5-D813-EABF-EA41B429FFC0}"/>
              </a:ext>
            </a:extLst>
          </p:cNvPr>
          <p:cNvPicPr>
            <a:picLocks noChangeAspect="1"/>
          </p:cNvPicPr>
          <p:nvPr/>
        </p:nvPicPr>
        <p:blipFill>
          <a:blip r:embed="rId2"/>
          <a:stretch>
            <a:fillRect/>
          </a:stretch>
        </p:blipFill>
        <p:spPr>
          <a:xfrm>
            <a:off x="183503" y="37156"/>
            <a:ext cx="1561556" cy="1407600"/>
          </a:xfrm>
          <a:prstGeom prst="rect">
            <a:avLst/>
          </a:prstGeom>
        </p:spPr>
      </p:pic>
      <p:graphicFrame>
        <p:nvGraphicFramePr>
          <p:cNvPr id="8" name="Table 7">
            <a:extLst>
              <a:ext uri="{FF2B5EF4-FFF2-40B4-BE49-F238E27FC236}">
                <a16:creationId xmlns:a16="http://schemas.microsoft.com/office/drawing/2014/main" id="{78981DFE-5790-60C2-1E8D-A59407579DEF}"/>
              </a:ext>
            </a:extLst>
          </p:cNvPr>
          <p:cNvGraphicFramePr>
            <a:graphicFrameLocks noGrp="1"/>
          </p:cNvGraphicFramePr>
          <p:nvPr>
            <p:extLst>
              <p:ext uri="{D42A27DB-BD31-4B8C-83A1-F6EECF244321}">
                <p14:modId xmlns:p14="http://schemas.microsoft.com/office/powerpoint/2010/main" val="2252545729"/>
              </p:ext>
            </p:extLst>
          </p:nvPr>
        </p:nvGraphicFramePr>
        <p:xfrm>
          <a:off x="1066800" y="1343442"/>
          <a:ext cx="7924799" cy="5255144"/>
        </p:xfrm>
        <a:graphic>
          <a:graphicData uri="http://schemas.openxmlformats.org/drawingml/2006/table">
            <a:tbl>
              <a:tblPr/>
              <a:tblGrid>
                <a:gridCol w="1143000">
                  <a:extLst>
                    <a:ext uri="{9D8B030D-6E8A-4147-A177-3AD203B41FA5}">
                      <a16:colId xmlns:a16="http://schemas.microsoft.com/office/drawing/2014/main" val="4138016793"/>
                    </a:ext>
                  </a:extLst>
                </a:gridCol>
                <a:gridCol w="838200">
                  <a:extLst>
                    <a:ext uri="{9D8B030D-6E8A-4147-A177-3AD203B41FA5}">
                      <a16:colId xmlns:a16="http://schemas.microsoft.com/office/drawing/2014/main" val="3022649419"/>
                    </a:ext>
                  </a:extLst>
                </a:gridCol>
                <a:gridCol w="1981200">
                  <a:extLst>
                    <a:ext uri="{9D8B030D-6E8A-4147-A177-3AD203B41FA5}">
                      <a16:colId xmlns:a16="http://schemas.microsoft.com/office/drawing/2014/main" val="1120488719"/>
                    </a:ext>
                  </a:extLst>
                </a:gridCol>
                <a:gridCol w="1828800">
                  <a:extLst>
                    <a:ext uri="{9D8B030D-6E8A-4147-A177-3AD203B41FA5}">
                      <a16:colId xmlns:a16="http://schemas.microsoft.com/office/drawing/2014/main" val="3799996523"/>
                    </a:ext>
                  </a:extLst>
                </a:gridCol>
                <a:gridCol w="2133599">
                  <a:extLst>
                    <a:ext uri="{9D8B030D-6E8A-4147-A177-3AD203B41FA5}">
                      <a16:colId xmlns:a16="http://schemas.microsoft.com/office/drawing/2014/main" val="205446835"/>
                    </a:ext>
                  </a:extLst>
                </a:gridCol>
              </a:tblGrid>
              <a:tr h="233240">
                <a:tc>
                  <a:txBody>
                    <a:bodyPr/>
                    <a:lstStyle/>
                    <a:p>
                      <a:pPr algn="ctr">
                        <a:buNone/>
                      </a:pPr>
                      <a:r>
                        <a:rPr lang="en-US" sz="1600" b="1" dirty="0">
                          <a:latin typeface="Times New Roman" panose="02020603050405020304" pitchFamily="18" charset="0"/>
                          <a:cs typeface="Times New Roman" panose="02020603050405020304" pitchFamily="18" charset="0"/>
                        </a:rPr>
                        <a:t>Author</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a:latin typeface="Times New Roman" panose="02020603050405020304" pitchFamily="18" charset="0"/>
                          <a:cs typeface="Times New Roman" panose="02020603050405020304" pitchFamily="18" charset="0"/>
                        </a:rPr>
                        <a:t>Year</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a:latin typeface="Times New Roman" panose="02020603050405020304" pitchFamily="18" charset="0"/>
                          <a:cs typeface="Times New Roman" panose="02020603050405020304" pitchFamily="18" charset="0"/>
                        </a:rPr>
                        <a:t>Journal / Source</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a:latin typeface="Times New Roman" panose="02020603050405020304" pitchFamily="18" charset="0"/>
                          <a:cs typeface="Times New Roman" panose="02020603050405020304" pitchFamily="18" charset="0"/>
                        </a:rPr>
                        <a:t>Study Focus</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dirty="0">
                          <a:latin typeface="Times New Roman" panose="02020603050405020304" pitchFamily="18" charset="0"/>
                          <a:cs typeface="Times New Roman" panose="02020603050405020304" pitchFamily="18" charset="0"/>
                        </a:rPr>
                        <a:t>Key Findings</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6241863"/>
                  </a:ext>
                </a:extLst>
              </a:tr>
              <a:tr h="1436499">
                <a:tc>
                  <a:txBody>
                    <a:bodyPr/>
                    <a:lstStyle/>
                    <a:p>
                      <a:pPr algn="ctr">
                        <a:buNone/>
                      </a:pPr>
                      <a:r>
                        <a:rPr lang="en-IN" sz="1400" dirty="0"/>
                        <a:t>Melville, B.W.</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latin typeface="Times New Roman" panose="02020603050405020304" pitchFamily="18" charset="0"/>
                          <a:cs typeface="Times New Roman" panose="02020603050405020304" pitchFamily="18" charset="0"/>
                        </a:rPr>
                        <a:t>1997</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Journal of Hydraulic </a:t>
                      </a:r>
                      <a:r>
                        <a:rPr lang="en-IN" sz="1400" dirty="0" err="1"/>
                        <a:t>Endineering</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Bridge pier scour analysis</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400" dirty="0"/>
                        <a:t>Developed equations to predict local scour depth around piers.</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0952691"/>
                  </a:ext>
                </a:extLst>
              </a:tr>
              <a:tr h="834869">
                <a:tc>
                  <a:txBody>
                    <a:bodyPr/>
                    <a:lstStyle/>
                    <a:p>
                      <a:pPr algn="ctr">
                        <a:buNone/>
                      </a:pPr>
                      <a:r>
                        <a:rPr lang="en-IN" sz="1400" b="0" dirty="0"/>
                        <a:t>Richardson, E.V.</a:t>
                      </a:r>
                      <a:endParaRPr lang="en-US" sz="1400" b="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latin typeface="Times New Roman" panose="02020603050405020304" pitchFamily="18" charset="0"/>
                          <a:cs typeface="Times New Roman" panose="02020603050405020304" pitchFamily="18" charset="0"/>
                        </a:rPr>
                        <a:t>2001</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Hydraulic Engineering Circular</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Scour at bridge foundations</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400" dirty="0"/>
                        <a:t>Identified scour as a major cause of bridge failure worldwide.</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2403787"/>
                  </a:ext>
                </a:extLst>
              </a:tr>
              <a:tr h="834869">
                <a:tc>
                  <a:txBody>
                    <a:bodyPr/>
                    <a:lstStyle/>
                    <a:p>
                      <a:pPr algn="ctr">
                        <a:buNone/>
                      </a:pPr>
                      <a:r>
                        <a:rPr lang="en-IN" sz="1400" dirty="0" err="1"/>
                        <a:t>Raudkivi</a:t>
                      </a:r>
                      <a:r>
                        <a:rPr lang="en-IN" sz="1400" dirty="0"/>
                        <a:t>, A.J.</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latin typeface="Times New Roman" panose="02020603050405020304" pitchFamily="18" charset="0"/>
                          <a:cs typeface="Times New Roman" panose="02020603050405020304" pitchFamily="18" charset="0"/>
                        </a:rPr>
                        <a:t>1986</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Journal of Hydraulic Research</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Flow pattern around piers</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400" dirty="0"/>
                        <a:t>Found that vortices increase erosion near pier base.</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2863546"/>
                  </a:ext>
                </a:extLst>
              </a:tr>
              <a:tr h="834869">
                <a:tc>
                  <a:txBody>
                    <a:bodyPr/>
                    <a:lstStyle/>
                    <a:p>
                      <a:pPr algn="ctr">
                        <a:buNone/>
                      </a:pPr>
                      <a:r>
                        <a:rPr lang="en-IN" sz="1400" dirty="0"/>
                        <a:t>Chiew, Y.M.</a:t>
                      </a:r>
                      <a:r>
                        <a:rPr lang="en-US" sz="1400" dirty="0">
                          <a:latin typeface="Times New Roman" panose="02020603050405020304" pitchFamily="18" charset="0"/>
                          <a:cs typeface="Times New Roman" panose="02020603050405020304" pitchFamily="18" charset="0"/>
                        </a:rPr>
                        <a:t>.</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latin typeface="Times New Roman" panose="02020603050405020304" pitchFamily="18" charset="0"/>
                          <a:cs typeface="Times New Roman" panose="02020603050405020304" pitchFamily="18" charset="0"/>
                        </a:rPr>
                        <a:t>1992</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Journal of Hydraulic Engineering</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Clear-water scour study</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Showed that velocity strongly affects scour depth 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9006739"/>
                  </a:ext>
                </a:extLst>
              </a:tr>
              <a:tr h="1035412">
                <a:tc>
                  <a:txBody>
                    <a:bodyPr/>
                    <a:lstStyle/>
                    <a:p>
                      <a:pPr algn="ctr">
                        <a:buNone/>
                      </a:pPr>
                      <a:r>
                        <a:rPr lang="en-IN" sz="1400" dirty="0"/>
                        <a:t>Dey, S.</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latin typeface="Times New Roman" panose="02020603050405020304" pitchFamily="18" charset="0"/>
                          <a:cs typeface="Times New Roman" panose="02020603050405020304" pitchFamily="18" charset="0"/>
                        </a:rPr>
                        <a:t>2014</a:t>
                      </a: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Advances in Water Resources</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Sediment transport &amp; scour</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1400" dirty="0"/>
                        <a:t>Provided advanced models for predicting scour under different conditions.</a:t>
                      </a:r>
                      <a:endParaRPr lang="en-US" sz="1400" dirty="0">
                        <a:latin typeface="Times New Roman" panose="02020603050405020304" pitchFamily="18" charset="0"/>
                        <a:cs typeface="Times New Roman" panose="02020603050405020304" pitchFamily="18" charset="0"/>
                      </a:endParaRPr>
                    </a:p>
                  </a:txBody>
                  <a:tcPr marL="34787" marR="34787" marT="17393" marB="173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818307"/>
                  </a:ext>
                </a:extLst>
              </a:tr>
            </a:tbl>
          </a:graphicData>
        </a:graphic>
      </p:graphicFrame>
    </p:spTree>
    <p:extLst>
      <p:ext uri="{BB962C8B-B14F-4D97-AF65-F5344CB8AC3E}">
        <p14:creationId xmlns:p14="http://schemas.microsoft.com/office/powerpoint/2010/main" val="3368237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DF862-0CBA-114F-E733-1FA3A2D41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38DD1-FE8B-FCFF-6BF2-68D75DFC6129}"/>
              </a:ext>
            </a:extLst>
          </p:cNvPr>
          <p:cNvSpPr>
            <a:spLocks noGrp="1"/>
          </p:cNvSpPr>
          <p:nvPr>
            <p:ph type="ctrTitle"/>
          </p:nvPr>
        </p:nvSpPr>
        <p:spPr>
          <a:xfrm>
            <a:off x="1463452" y="426548"/>
            <a:ext cx="7832948" cy="1326051"/>
          </a:xfrm>
        </p:spPr>
        <p:txBody>
          <a:bodyPr>
            <a:noAutofit/>
          </a:bodyPr>
          <a:lstStyle/>
          <a:p>
            <a:br>
              <a:rPr lang="en-US" dirty="0">
                <a:solidFill>
                  <a:srgbClr val="0070C0"/>
                </a:solidFill>
                <a:latin typeface="Times New Roman" panose="02020603050405020304" pitchFamily="18" charset="0"/>
                <a:cs typeface="Times New Roman" panose="02020603050405020304" pitchFamily="18" charset="0"/>
              </a:rPr>
            </a:br>
            <a:r>
              <a:rPr lang="en-US" dirty="0">
                <a:solidFill>
                  <a:srgbClr val="0070C0"/>
                </a:solidFill>
                <a:latin typeface="Times New Roman" panose="02020603050405020304" pitchFamily="18" charset="0"/>
                <a:cs typeface="Times New Roman" panose="02020603050405020304" pitchFamily="18" charset="0"/>
              </a:rPr>
              <a:t>Proposed Solution / Methodology</a:t>
            </a:r>
            <a:br>
              <a:rPr lang="en-US" sz="4400" dirty="0">
                <a:solidFill>
                  <a:schemeClr val="tx2">
                    <a:lumMod val="75000"/>
                  </a:schemeClr>
                </a:solidFill>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992DDD7-5100-04B4-067E-5143259705F4}"/>
              </a:ext>
            </a:extLst>
          </p:cNvPr>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EAE2E969-A4D7-4C6A-6319-94B20257AE2D}"/>
              </a:ext>
            </a:extLst>
          </p:cNvPr>
          <p:cNvSpPr txBox="1">
            <a:spLocks/>
          </p:cNvSpPr>
          <p:nvPr/>
        </p:nvSpPr>
        <p:spPr>
          <a:xfrm>
            <a:off x="1219200" y="1560000"/>
            <a:ext cx="7832948" cy="5145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IN" sz="2200" b="1" dirty="0">
                <a:latin typeface="Times New Roman" panose="02020603050405020304" pitchFamily="18" charset="0"/>
                <a:cs typeface="Times New Roman" panose="02020603050405020304" pitchFamily="18" charset="0"/>
              </a:rPr>
              <a:t>Approach: </a:t>
            </a:r>
          </a:p>
          <a:p>
            <a:pPr marL="313182" indent="-285750">
              <a:buClr>
                <a:schemeClr val="tx1"/>
              </a:buClr>
              <a:buFont typeface="Wingdings" panose="05000000000000000000" pitchFamily="2" charset="2"/>
              <a:buChar char="Ø"/>
            </a:pPr>
            <a:r>
              <a:rPr lang="en-IN" sz="1800" dirty="0"/>
              <a:t>Experimental and analytical study of flow around bridge pier.</a:t>
            </a:r>
          </a:p>
          <a:p>
            <a:pPr marL="313182" indent="-285750">
              <a:buClr>
                <a:schemeClr val="tx1"/>
              </a:buClr>
              <a:buFont typeface="Wingdings" panose="05000000000000000000" pitchFamily="2" charset="2"/>
              <a:buChar char="Ø"/>
            </a:pPr>
            <a:r>
              <a:rPr lang="en-IN" sz="1800" dirty="0"/>
              <a:t>Observation of scour formation under different flow conditions.</a:t>
            </a:r>
          </a:p>
          <a:p>
            <a:pPr marL="313182" indent="-285750">
              <a:buClr>
                <a:schemeClr val="tx1"/>
              </a:buClr>
              <a:buFont typeface="Wingdings" panose="05000000000000000000" pitchFamily="2" charset="2"/>
              <a:buChar char="Ø"/>
            </a:pPr>
            <a:r>
              <a:rPr lang="en-IN" sz="1800" dirty="0"/>
              <a:t>Parametric analysis of velocity and scour depth relationship.</a:t>
            </a:r>
          </a:p>
          <a:p>
            <a:pPr>
              <a:lnSpc>
                <a:spcPct val="110000"/>
              </a:lnSpc>
            </a:pPr>
            <a:r>
              <a:rPr lang="en-US" sz="2200" b="1" dirty="0">
                <a:latin typeface="Times New Roman" panose="02020603050405020304" pitchFamily="18" charset="0"/>
                <a:cs typeface="Times New Roman" panose="02020603050405020304" pitchFamily="18" charset="0"/>
              </a:rPr>
              <a:t>Techniques: </a:t>
            </a:r>
          </a:p>
          <a:p>
            <a:pPr marL="313182" indent="-285750">
              <a:lnSpc>
                <a:spcPct val="110000"/>
              </a:lnSpc>
              <a:buClr>
                <a:schemeClr val="tx1"/>
              </a:buClr>
              <a:buFont typeface="Wingdings" panose="05000000000000000000" pitchFamily="2" charset="2"/>
              <a:buChar char="Ø"/>
            </a:pPr>
            <a:r>
              <a:rPr lang="en-IN" sz="1800" dirty="0"/>
              <a:t>Measurement of local velocity near the pier.</a:t>
            </a:r>
          </a:p>
          <a:p>
            <a:pPr marL="313182" indent="-285750">
              <a:lnSpc>
                <a:spcPct val="110000"/>
              </a:lnSpc>
              <a:buClr>
                <a:schemeClr val="tx1"/>
              </a:buClr>
              <a:buFont typeface="Wingdings" panose="05000000000000000000" pitchFamily="2" charset="2"/>
              <a:buChar char="Ø"/>
            </a:pPr>
            <a:r>
              <a:rPr lang="en-IN" sz="1800" dirty="0"/>
              <a:t>Observation and recording of scour depth over time.</a:t>
            </a:r>
          </a:p>
          <a:p>
            <a:pPr marL="313182" indent="-285750">
              <a:lnSpc>
                <a:spcPct val="110000"/>
              </a:lnSpc>
              <a:buClr>
                <a:schemeClr val="tx1"/>
              </a:buClr>
              <a:buFont typeface="Wingdings" panose="05000000000000000000" pitchFamily="2" charset="2"/>
              <a:buChar char="Ø"/>
            </a:pPr>
            <a:r>
              <a:rPr lang="en-IN" sz="1800" dirty="0"/>
              <a:t>Comparative analysis for different flow velocities.</a:t>
            </a:r>
            <a:endParaRPr lang="en-US" sz="1800" dirty="0">
              <a:solidFill>
                <a:schemeClr val="tx1"/>
              </a:solidFill>
              <a:latin typeface="Times New Roman" panose="02020603050405020304" pitchFamily="18" charset="0"/>
              <a:cs typeface="Times New Roman" panose="02020603050405020304" pitchFamily="18" charset="0"/>
            </a:endParaRPr>
          </a:p>
          <a:p>
            <a:pPr>
              <a:lnSpc>
                <a:spcPct val="110000"/>
              </a:lnSpc>
              <a:buClr>
                <a:schemeClr val="tx1"/>
              </a:buClr>
            </a:pPr>
            <a:r>
              <a:rPr lang="en-US" sz="2200" b="1" dirty="0">
                <a:solidFill>
                  <a:schemeClr val="tx1"/>
                </a:solidFill>
                <a:latin typeface="Times New Roman" panose="02020603050405020304" pitchFamily="18" charset="0"/>
                <a:cs typeface="Times New Roman" panose="02020603050405020304" pitchFamily="18" charset="0"/>
              </a:rPr>
              <a:t>Tools: </a:t>
            </a:r>
          </a:p>
          <a:p>
            <a:pPr marL="313182" indent="-285750">
              <a:lnSpc>
                <a:spcPct val="110000"/>
              </a:lnSpc>
              <a:buClr>
                <a:schemeClr val="tx1"/>
              </a:buClr>
              <a:buFont typeface="Wingdings" panose="05000000000000000000" pitchFamily="2" charset="2"/>
              <a:buChar char="Ø"/>
            </a:pPr>
            <a:r>
              <a:rPr lang="en-IN" sz="1800" dirty="0"/>
              <a:t>Hydraulic flume setup (for water flow experiment).</a:t>
            </a:r>
          </a:p>
          <a:p>
            <a:pPr marL="313182" indent="-285750">
              <a:lnSpc>
                <a:spcPct val="110000"/>
              </a:lnSpc>
              <a:buClr>
                <a:schemeClr val="tx1"/>
              </a:buClr>
              <a:buFont typeface="Wingdings" panose="05000000000000000000" pitchFamily="2" charset="2"/>
              <a:buChar char="Ø"/>
            </a:pPr>
            <a:r>
              <a:rPr lang="en-IN" sz="1800" dirty="0"/>
              <a:t>Measuring scale / sensors for depth and velocity.</a:t>
            </a:r>
          </a:p>
          <a:p>
            <a:pPr marL="313182" indent="-285750">
              <a:lnSpc>
                <a:spcPct val="110000"/>
              </a:lnSpc>
              <a:buClr>
                <a:schemeClr val="tx1"/>
              </a:buClr>
              <a:buFont typeface="Wingdings" panose="05000000000000000000" pitchFamily="2" charset="2"/>
              <a:buChar char="Ø"/>
            </a:pPr>
            <a:r>
              <a:rPr lang="en-IN" sz="1800" dirty="0"/>
              <a:t>Data recording and analysis tools (Excel / graphs).</a:t>
            </a:r>
          </a:p>
          <a:p>
            <a:pPr>
              <a:lnSpc>
                <a:spcPct val="110000"/>
              </a:lnSpc>
              <a:buClr>
                <a:schemeClr val="tx1"/>
              </a:buClr>
            </a:pPr>
            <a:endParaRPr lang="en-IN" sz="1800" dirty="0"/>
          </a:p>
          <a:p>
            <a:pPr>
              <a:lnSpc>
                <a:spcPct val="110000"/>
              </a:lnSpc>
              <a:buClr>
                <a:schemeClr val="tx1"/>
              </a:buClr>
            </a:pPr>
            <a:endParaRPr lang="en-US" sz="1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5476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2E806-6E3F-D641-CC45-C096B45AA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05EF1-F5B9-B995-EEB0-94A429489E4E}"/>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Results &amp; Analysis</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FFC6859-FD29-DDAF-31EA-4CFA05E37B28}"/>
              </a:ext>
            </a:extLst>
          </p:cNvPr>
          <p:cNvPicPr>
            <a:picLocks noChangeAspect="1"/>
          </p:cNvPicPr>
          <p:nvPr/>
        </p:nvPicPr>
        <p:blipFill>
          <a:blip r:embed="rId2"/>
          <a:stretch>
            <a:fillRect/>
          </a:stretch>
        </p:blipFill>
        <p:spPr>
          <a:xfrm>
            <a:off x="152400" y="152400"/>
            <a:ext cx="1561556" cy="1407600"/>
          </a:xfrm>
          <a:prstGeom prst="rect">
            <a:avLst/>
          </a:prstGeom>
        </p:spPr>
      </p:pic>
      <p:sp>
        <p:nvSpPr>
          <p:cNvPr id="5" name="Google Shape;258;p8">
            <a:extLst>
              <a:ext uri="{FF2B5EF4-FFF2-40B4-BE49-F238E27FC236}">
                <a16:creationId xmlns:a16="http://schemas.microsoft.com/office/drawing/2014/main" id="{91C2F90F-D2A1-D374-14CF-3CDB4A95E9E6}"/>
              </a:ext>
            </a:extLst>
          </p:cNvPr>
          <p:cNvSpPr txBox="1">
            <a:spLocks/>
          </p:cNvSpPr>
          <p:nvPr/>
        </p:nvSpPr>
        <p:spPr>
          <a:xfrm>
            <a:off x="956477" y="1681065"/>
            <a:ext cx="4800600" cy="4136370"/>
          </a:xfrm>
          <a:prstGeom prst="rect">
            <a:avLst/>
          </a:prstGeom>
          <a:noFill/>
          <a:ln>
            <a:noFill/>
          </a:ln>
        </p:spPr>
        <p:txBody>
          <a:bodyPr spcFirstLastPara="1" wrap="square" lIns="91425" tIns="45700" rIns="91425" bIns="45700" anchor="t" anchorCtr="0">
            <a:normAutofit fontScale="70000" lnSpcReduction="20000"/>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pPr marL="358902" indent="-342900" algn="just">
              <a:buClr>
                <a:schemeClr val="tx1"/>
              </a:buClr>
              <a:buSzPct val="115000"/>
              <a:buFont typeface="Wingdings" panose="05000000000000000000" pitchFamily="2" charset="2"/>
              <a:buChar char="Ø"/>
            </a:pPr>
            <a:r>
              <a:rPr lang="en-IN" sz="2400" dirty="0"/>
              <a:t>In order to study the effect of flow conditions on scour formation, observations were carried out by varying the water velocity around the bridge pier. The velocity range was gradually increased to </a:t>
            </a:r>
            <a:r>
              <a:rPr lang="en-IN" sz="2400" dirty="0" err="1"/>
              <a:t>analyze</a:t>
            </a:r>
            <a:r>
              <a:rPr lang="en-IN" sz="2400" dirty="0"/>
              <a:t> its impact on scour depth.</a:t>
            </a:r>
          </a:p>
          <a:p>
            <a:pPr marL="358902" indent="-342900" algn="just">
              <a:buClr>
                <a:schemeClr val="tx1"/>
              </a:buClr>
              <a:buSzPct val="115000"/>
              <a:buFont typeface="Wingdings" panose="05000000000000000000" pitchFamily="2" charset="2"/>
              <a:buChar char="Ø"/>
            </a:pPr>
            <a:r>
              <a:rPr lang="en-IN" sz="2400" dirty="0"/>
              <a:t>Based on the experimental observations, the scour depth was measured for different velocities. The variation of scour depth with flow velocity is represented graphically, showing a clear increasing trend.</a:t>
            </a:r>
          </a:p>
          <a:p>
            <a:pPr marL="358902" indent="-342900" algn="just">
              <a:buClr>
                <a:schemeClr val="tx1"/>
              </a:buClr>
              <a:buSzPct val="115000"/>
              <a:buFont typeface="Wingdings" panose="05000000000000000000" pitchFamily="2" charset="2"/>
              <a:buChar char="Ø"/>
            </a:pPr>
            <a:r>
              <a:rPr lang="en-IN" sz="2400" dirty="0"/>
              <a:t>It is observed that with an increase in velocity, the scour depth increases significantly. The maximum erosion occurs near the base of the pier due to the formation of vortices and turbulent flow.</a:t>
            </a:r>
            <a:endParaRPr lang="en-US" sz="2400" dirty="0">
              <a:solidFill>
                <a:schemeClr val="dk1"/>
              </a:solidFill>
              <a:latin typeface="Times New Roman"/>
              <a:ea typeface="Times New Roman"/>
              <a:cs typeface="Times New Roman"/>
              <a:sym typeface="Times New Roman"/>
            </a:endParaRPr>
          </a:p>
        </p:txBody>
      </p:sp>
      <p:sp>
        <p:nvSpPr>
          <p:cNvPr id="6" name="Google Shape;261;p8">
            <a:extLst>
              <a:ext uri="{FF2B5EF4-FFF2-40B4-BE49-F238E27FC236}">
                <a16:creationId xmlns:a16="http://schemas.microsoft.com/office/drawing/2014/main" id="{BB79EE70-5E0C-E323-9572-E09697A30770}"/>
              </a:ext>
            </a:extLst>
          </p:cNvPr>
          <p:cNvSpPr txBox="1"/>
          <p:nvPr/>
        </p:nvSpPr>
        <p:spPr>
          <a:xfrm>
            <a:off x="5757077" y="4768201"/>
            <a:ext cx="3381808" cy="682199"/>
          </a:xfrm>
          <a:prstGeom prst="rect">
            <a:avLst/>
          </a:prstGeom>
          <a:noFill/>
          <a:ln>
            <a:noFill/>
          </a:ln>
        </p:spPr>
        <p:txBody>
          <a:bodyPr spcFirstLastPara="1" wrap="square" lIns="91425" tIns="45700" rIns="91425" bIns="45700" anchor="b" anchorCtr="0">
            <a:noAutofit/>
          </a:bodyPr>
          <a:lstStyle/>
          <a:p>
            <a:pPr lvl="0" algn="just">
              <a:buClr>
                <a:srgbClr val="000000"/>
              </a:buClr>
              <a:buSzPts val="2000"/>
            </a:pPr>
            <a:br>
              <a:rPr lang="en-US" sz="2000" b="0" i="0" u="none" strike="noStrike" cap="small" dirty="0">
                <a:solidFill>
                  <a:srgbClr val="4E5B6F"/>
                </a:solidFill>
                <a:latin typeface="Times New Roman"/>
                <a:ea typeface="Times New Roman"/>
                <a:cs typeface="Times New Roman"/>
                <a:sym typeface="Times New Roman"/>
              </a:rPr>
            </a:br>
            <a:r>
              <a:rPr lang="en-US" sz="1500" b="1" dirty="0">
                <a:solidFill>
                  <a:schemeClr val="dk1"/>
                </a:solidFill>
                <a:latin typeface="Times New Roman"/>
                <a:cs typeface="Times New Roman"/>
                <a:sym typeface="Times New Roman"/>
              </a:rPr>
              <a:t>FIG 2.</a:t>
            </a:r>
            <a:r>
              <a:rPr lang="en-IN" sz="2000" b="1" dirty="0">
                <a:solidFill>
                  <a:schemeClr val="dk1"/>
                </a:solidFill>
                <a:latin typeface="Times New Roman"/>
                <a:cs typeface="Times New Roman"/>
                <a:sym typeface="Times New Roman"/>
              </a:rPr>
              <a:t> </a:t>
            </a:r>
            <a:r>
              <a:rPr lang="en-IN" sz="1400" dirty="0"/>
              <a:t>Variation of scour depth with flow velocity around bridge pier</a:t>
            </a:r>
            <a:r>
              <a:rPr lang="en-IN" sz="2000" dirty="0"/>
              <a:t>.</a:t>
            </a:r>
            <a:endParaRPr sz="2000" b="0" i="0" u="none" strike="noStrike" cap="small" dirty="0">
              <a:solidFill>
                <a:srgbClr val="4E5B6F"/>
              </a:solidFill>
              <a:latin typeface="Times New Roman"/>
              <a:ea typeface="Times New Roman"/>
              <a:cs typeface="Times New Roman"/>
              <a:sym typeface="Times New Roman"/>
            </a:endParaRPr>
          </a:p>
        </p:txBody>
      </p:sp>
      <p:pic>
        <p:nvPicPr>
          <p:cNvPr id="8" name="Picture 7">
            <a:extLst>
              <a:ext uri="{FF2B5EF4-FFF2-40B4-BE49-F238E27FC236}">
                <a16:creationId xmlns:a16="http://schemas.microsoft.com/office/drawing/2014/main" id="{6A738D25-9EF5-7065-A72A-0C180FF6D2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9885" y="1407600"/>
            <a:ext cx="3429000" cy="3360601"/>
          </a:xfrm>
          <a:prstGeom prst="rect">
            <a:avLst/>
          </a:prstGeom>
        </p:spPr>
      </p:pic>
    </p:spTree>
    <p:extLst>
      <p:ext uri="{BB962C8B-B14F-4D97-AF65-F5344CB8AC3E}">
        <p14:creationId xmlns:p14="http://schemas.microsoft.com/office/powerpoint/2010/main" val="1664951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69;g3740aa967e6_0_102">
            <a:extLst>
              <a:ext uri="{FF2B5EF4-FFF2-40B4-BE49-F238E27FC236}">
                <a16:creationId xmlns:a16="http://schemas.microsoft.com/office/drawing/2014/main" id="{812237CE-F86D-E7D0-E842-61CDA2F0F80F}"/>
              </a:ext>
            </a:extLst>
          </p:cNvPr>
          <p:cNvSpPr txBox="1"/>
          <p:nvPr/>
        </p:nvSpPr>
        <p:spPr>
          <a:xfrm>
            <a:off x="1066799" y="1524000"/>
            <a:ext cx="4343401" cy="3249951"/>
          </a:xfrm>
          <a:prstGeom prst="rect">
            <a:avLst/>
          </a:prstGeom>
          <a:noFill/>
          <a:ln>
            <a:noFill/>
          </a:ln>
        </p:spPr>
        <p:txBody>
          <a:bodyPr spcFirstLastPara="1" wrap="square" lIns="91425" tIns="45700" rIns="91425" bIns="45700" anchor="t" anchorCtr="0">
            <a:normAutofit fontScale="92500" lnSpcReduction="10000"/>
          </a:bodyPr>
          <a:lstStyle/>
          <a:p>
            <a:pPr marL="355600" indent="-342900" algn="just">
              <a:spcBef>
                <a:spcPts val="600"/>
              </a:spcBef>
              <a:buClr>
                <a:schemeClr val="dk1"/>
              </a:buClr>
              <a:buSzPct val="110000"/>
              <a:buFont typeface="Wingdings" panose="05000000000000000000" pitchFamily="2" charset="2"/>
              <a:buChar char="Ø"/>
            </a:pPr>
            <a:r>
              <a:rPr lang="en-IN" sz="2400" dirty="0"/>
              <a:t>The variation of scour depth with flow velocity is </a:t>
            </a:r>
            <a:r>
              <a:rPr lang="en-IN" sz="2400" dirty="0" err="1"/>
              <a:t>analyzed</a:t>
            </a:r>
            <a:r>
              <a:rPr lang="en-IN" sz="2400" dirty="0"/>
              <a:t> for different flow conditions.</a:t>
            </a:r>
          </a:p>
          <a:p>
            <a:pPr marL="355600" lvl="0" indent="-342900" algn="just">
              <a:spcBef>
                <a:spcPts val="600"/>
              </a:spcBef>
              <a:buClr>
                <a:schemeClr val="dk1"/>
              </a:buClr>
              <a:buSzPct val="110000"/>
              <a:buFont typeface="Wingdings" panose="05000000000000000000" pitchFamily="2" charset="2"/>
              <a:buChar char="Ø"/>
            </a:pPr>
            <a:r>
              <a:rPr lang="en-IN" sz="2400" dirty="0"/>
              <a:t>It is observed that as velocity increases, the scour depth also increases significantly.</a:t>
            </a:r>
          </a:p>
          <a:p>
            <a:pPr marL="355600" lvl="0" indent="-342900" algn="just">
              <a:spcBef>
                <a:spcPts val="600"/>
              </a:spcBef>
              <a:buClr>
                <a:schemeClr val="dk1"/>
              </a:buClr>
              <a:buSzPct val="110000"/>
              <a:buFont typeface="Wingdings" panose="05000000000000000000" pitchFamily="2" charset="2"/>
              <a:buChar char="Ø"/>
            </a:pPr>
            <a:r>
              <a:rPr lang="en-IN" sz="2400" dirty="0"/>
              <a:t>Maximum scour occurs near the base of the pier due to vortex formation and turbulence.</a:t>
            </a:r>
          </a:p>
          <a:p>
            <a:pPr marL="355600" lvl="0" indent="-342900" algn="just">
              <a:spcBef>
                <a:spcPts val="600"/>
              </a:spcBef>
              <a:buClr>
                <a:schemeClr val="dk1"/>
              </a:buClr>
              <a:buSzPct val="110000"/>
              <a:buFont typeface="Wingdings" panose="05000000000000000000" pitchFamily="2" charset="2"/>
              <a:buChar char="Ø"/>
            </a:pPr>
            <a:endParaRPr lang="en-US" sz="2200" b="0" i="0" u="none" strike="noStrike" cap="none" dirty="0">
              <a:solidFill>
                <a:srgbClr val="000000"/>
              </a:solidFill>
              <a:latin typeface="Times New Roman"/>
              <a:ea typeface="Times New Roman"/>
              <a:cs typeface="Times New Roman"/>
              <a:sym typeface="Times New Roman"/>
            </a:endParaRPr>
          </a:p>
        </p:txBody>
      </p:sp>
      <p:sp>
        <p:nvSpPr>
          <p:cNvPr id="5" name="Google Shape;270;g3740aa967e6_0_102">
            <a:extLst>
              <a:ext uri="{FF2B5EF4-FFF2-40B4-BE49-F238E27FC236}">
                <a16:creationId xmlns:a16="http://schemas.microsoft.com/office/drawing/2014/main" id="{198E2C07-7CCA-C9FA-B77F-922980DAC450}"/>
              </a:ext>
            </a:extLst>
          </p:cNvPr>
          <p:cNvSpPr txBox="1"/>
          <p:nvPr/>
        </p:nvSpPr>
        <p:spPr>
          <a:xfrm>
            <a:off x="4659085" y="4245647"/>
            <a:ext cx="4529100" cy="1498281"/>
          </a:xfrm>
          <a:prstGeom prst="rect">
            <a:avLst/>
          </a:prstGeom>
          <a:noFill/>
          <a:ln>
            <a:noFill/>
          </a:ln>
        </p:spPr>
        <p:txBody>
          <a:bodyPr spcFirstLastPara="1" wrap="square" lIns="91425" tIns="45700" rIns="91425" bIns="45700" anchor="b" anchorCtr="0">
            <a:normAutofit/>
          </a:bodyPr>
          <a:lstStyle/>
          <a:p>
            <a:pPr lvl="0">
              <a:buClr>
                <a:srgbClr val="000000"/>
              </a:buClr>
              <a:buSzPct val="100000"/>
            </a:pPr>
            <a:r>
              <a:rPr lang="en-US" sz="1600" b="1" dirty="0">
                <a:solidFill>
                  <a:srgbClr val="000000"/>
                </a:solidFill>
                <a:latin typeface="Times New Roman"/>
                <a:cs typeface="Times New Roman"/>
                <a:sym typeface="Times New Roman"/>
              </a:rPr>
              <a:t>FIG 3. </a:t>
            </a:r>
            <a:r>
              <a:rPr lang="en-IN" sz="1600" dirty="0"/>
              <a:t>Variation of Scour Depth with Flow Velocity around Bridge Pier</a:t>
            </a:r>
            <a:br>
              <a:rPr lang="en-US" sz="1600" dirty="0">
                <a:solidFill>
                  <a:srgbClr val="000000"/>
                </a:solidFill>
                <a:latin typeface="Times New Roman"/>
                <a:cs typeface="Times New Roman"/>
                <a:sym typeface="Times New Roman"/>
              </a:rPr>
            </a:br>
            <a:endParaRPr sz="1600" dirty="0">
              <a:solidFill>
                <a:srgbClr val="000000"/>
              </a:solidFill>
              <a:latin typeface="Times New Roman"/>
              <a:cs typeface="Times New Roman"/>
              <a:sym typeface="Times New Roman"/>
            </a:endParaRPr>
          </a:p>
        </p:txBody>
      </p:sp>
      <p:sp>
        <p:nvSpPr>
          <p:cNvPr id="7" name="Title 1">
            <a:extLst>
              <a:ext uri="{FF2B5EF4-FFF2-40B4-BE49-F238E27FC236}">
                <a16:creationId xmlns:a16="http://schemas.microsoft.com/office/drawing/2014/main" id="{4B3F52ED-1EB8-0F91-6A55-692DABBBE8E5}"/>
              </a:ext>
            </a:extLst>
          </p:cNvPr>
          <p:cNvSpPr txBox="1">
            <a:spLocks/>
          </p:cNvSpPr>
          <p:nvPr/>
        </p:nvSpPr>
        <p:spPr>
          <a:xfrm>
            <a:off x="1077685" y="234371"/>
            <a:ext cx="7162800" cy="1112410"/>
          </a:xfrm>
          <a:prstGeom prst="rect">
            <a:avLst/>
          </a:prstGeom>
        </p:spPr>
        <p:txBody>
          <a:bodyPr anchor="ctr">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IN" sz="4000" dirty="0">
                <a:solidFill>
                  <a:srgbClr val="0070C0"/>
                </a:solidFill>
              </a:rPr>
              <a:t>   Variation of Scour Depth with</a:t>
            </a:r>
          </a:p>
          <a:p>
            <a:r>
              <a:rPr lang="en-IN" sz="4000" dirty="0">
                <a:solidFill>
                  <a:srgbClr val="0070C0"/>
                </a:solidFill>
              </a:rPr>
              <a:t>   Flow Velocity</a:t>
            </a:r>
            <a:r>
              <a:rPr lang="en-US" sz="4000" dirty="0">
                <a:solidFill>
                  <a:srgbClr val="0070C0"/>
                </a:solidFill>
                <a:latin typeface="Times New Roman" panose="02020603050405020304" pitchFamily="18" charset="0"/>
                <a:cs typeface="Times New Roman" panose="02020603050405020304" pitchFamily="18" charset="0"/>
              </a:rPr>
              <a:t>: </a:t>
            </a:r>
            <a:endParaRPr lang="en-US" sz="4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E1860D0B-5755-E96A-EB3D-A8E5ADD94CC9}"/>
              </a:ext>
            </a:extLst>
          </p:cNvPr>
          <p:cNvPicPr>
            <a:picLocks noChangeAspect="1"/>
          </p:cNvPicPr>
          <p:nvPr/>
        </p:nvPicPr>
        <p:blipFill>
          <a:blip r:embed="rId2" cstate="print">
            <a:extLst>
              <a:ext uri="{28A0092B-C50C-407E-A947-70E740481C1C}">
                <a14:useLocalDpi xmlns:a14="http://schemas.microsoft.com/office/drawing/2010/main" val="0"/>
              </a:ext>
            </a:extLst>
          </a:blip>
          <a:srcRect t="-1" b="10925"/>
          <a:stretch>
            <a:fillRect/>
          </a:stretch>
        </p:blipFill>
        <p:spPr>
          <a:xfrm>
            <a:off x="5410201" y="1079659"/>
            <a:ext cx="3733799" cy="3518059"/>
          </a:xfrm>
          <a:prstGeom prst="rect">
            <a:avLst/>
          </a:prstGeom>
        </p:spPr>
      </p:pic>
      <p:pic>
        <p:nvPicPr>
          <p:cNvPr id="12" name="Picture 11">
            <a:extLst>
              <a:ext uri="{FF2B5EF4-FFF2-40B4-BE49-F238E27FC236}">
                <a16:creationId xmlns:a16="http://schemas.microsoft.com/office/drawing/2014/main" id="{E2715498-E6BA-37C2-2A92-ACAC2B769733}"/>
              </a:ext>
            </a:extLst>
          </p:cNvPr>
          <p:cNvPicPr>
            <a:picLocks noChangeAspect="1"/>
          </p:cNvPicPr>
          <p:nvPr/>
        </p:nvPicPr>
        <p:blipFill>
          <a:blip r:embed="rId3"/>
          <a:stretch>
            <a:fillRect/>
          </a:stretch>
        </p:blipFill>
        <p:spPr>
          <a:xfrm>
            <a:off x="174170" y="116400"/>
            <a:ext cx="1561556" cy="1407600"/>
          </a:xfrm>
          <a:prstGeom prst="rect">
            <a:avLst/>
          </a:prstGeom>
        </p:spPr>
      </p:pic>
    </p:spTree>
    <p:extLst>
      <p:ext uri="{BB962C8B-B14F-4D97-AF65-F5344CB8AC3E}">
        <p14:creationId xmlns:p14="http://schemas.microsoft.com/office/powerpoint/2010/main" val="1340020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0B57-445B-FA9D-658B-E13F17EED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95196-3E35-2F93-92F3-AF001BC22AFB}"/>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Conclusion &amp; Future Work</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A95EFBB-EA43-E708-7935-0963BD2865DA}"/>
              </a:ext>
            </a:extLst>
          </p:cNvPr>
          <p:cNvSpPr>
            <a:spLocks noGrp="1"/>
          </p:cNvSpPr>
          <p:nvPr>
            <p:ph type="subTitle" idx="1"/>
          </p:nvPr>
        </p:nvSpPr>
        <p:spPr>
          <a:xfrm>
            <a:off x="1278872" y="1524000"/>
            <a:ext cx="7347380" cy="4688400"/>
          </a:xfrm>
        </p:spPr>
        <p:txBody>
          <a:bodyPr>
            <a:normAutofit fontScale="85000" lnSpcReduction="10000"/>
          </a:bodyPr>
          <a:lstStyle/>
          <a:p>
            <a:r>
              <a:rPr lang="en-IN" sz="3300" b="1" dirty="0">
                <a:latin typeface="Times New Roman" panose="02020603050405020304" pitchFamily="18" charset="0"/>
                <a:cs typeface="Times New Roman" panose="02020603050405020304" pitchFamily="18" charset="0"/>
              </a:rPr>
              <a:t>Summary: </a:t>
            </a:r>
          </a:p>
          <a:p>
            <a:pPr marL="484632" indent="-457200">
              <a:buClr>
                <a:schemeClr val="tx1"/>
              </a:buClr>
              <a:buFont typeface="Wingdings" panose="05000000000000000000" pitchFamily="2" charset="2"/>
              <a:buChar char="Ø"/>
            </a:pPr>
            <a:r>
              <a:rPr lang="en-IN" dirty="0"/>
              <a:t>Source depth increases with increase in flow velocity around the bridge pier.</a:t>
            </a:r>
            <a:endParaRPr lang="en-IN" b="1" dirty="0">
              <a:latin typeface="Times New Roman" panose="02020603050405020304" pitchFamily="18" charset="0"/>
              <a:cs typeface="Times New Roman" panose="02020603050405020304" pitchFamily="18" charset="0"/>
            </a:endParaRPr>
          </a:p>
          <a:p>
            <a:pPr marL="484632" indent="-457200">
              <a:buClr>
                <a:schemeClr val="tx1"/>
              </a:buClr>
              <a:buFont typeface="Wingdings" panose="05000000000000000000" pitchFamily="2" charset="2"/>
              <a:buChar char="Ø"/>
            </a:pPr>
            <a:r>
              <a:rPr lang="en-IN" dirty="0"/>
              <a:t>Maximum erosion occurs near the base due to vortex formation.</a:t>
            </a:r>
          </a:p>
          <a:p>
            <a:pPr marL="484632" indent="-457200">
              <a:buClr>
                <a:schemeClr val="tx1"/>
              </a:buClr>
              <a:buFont typeface="Wingdings" panose="05000000000000000000" pitchFamily="2" charset="2"/>
              <a:buChar char="Ø"/>
            </a:pPr>
            <a:r>
              <a:rPr lang="en-IN" dirty="0"/>
              <a:t> Local flow </a:t>
            </a:r>
            <a:r>
              <a:rPr lang="en-IN" dirty="0" err="1"/>
              <a:t>behavior</a:t>
            </a:r>
            <a:r>
              <a:rPr lang="en-IN" dirty="0"/>
              <a:t> plays a key role in foundation stability.</a:t>
            </a:r>
          </a:p>
          <a:p>
            <a:pPr marL="484632" indent="-457200">
              <a:buClr>
                <a:schemeClr val="tx1"/>
              </a:buClr>
              <a:buFont typeface="Wingdings" panose="05000000000000000000" pitchFamily="2" charset="2"/>
              <a:buChar char="Ø"/>
            </a:pPr>
            <a:r>
              <a:rPr lang="en-IN" dirty="0"/>
              <a:t> Proper design and analysis can reduce the risk of bridge failure.</a:t>
            </a:r>
          </a:p>
          <a:p>
            <a:r>
              <a:rPr lang="en-IN" sz="3300" b="1" dirty="0"/>
              <a:t>Key takeaway :</a:t>
            </a:r>
          </a:p>
          <a:p>
            <a:pPr marL="484632" indent="-457200">
              <a:buClr>
                <a:schemeClr val="tx1"/>
              </a:buClr>
              <a:buFont typeface="Wingdings" panose="05000000000000000000" pitchFamily="2" charset="2"/>
              <a:buChar char="Ø"/>
            </a:pPr>
            <a:r>
              <a:rPr lang="en-IN" dirty="0"/>
              <a:t>Scour is a major factor affecting the safety of bridge foundations.</a:t>
            </a:r>
            <a:endParaRPr lang="en-IN" b="1" dirty="0"/>
          </a:p>
          <a:p>
            <a:pPr marL="484632" indent="-457200">
              <a:buClr>
                <a:schemeClr val="tx1"/>
              </a:buClr>
              <a:buFont typeface="Wingdings" panose="05000000000000000000" pitchFamily="2" charset="2"/>
              <a:buChar char="Ø"/>
            </a:pPr>
            <a:r>
              <a:rPr lang="en-IN" dirty="0"/>
              <a:t>Increase in flow velocity leads to higher scour depth and erosion.</a:t>
            </a:r>
          </a:p>
          <a:p>
            <a:endParaRPr lang="en-IN" dirty="0"/>
          </a:p>
        </p:txBody>
      </p:sp>
      <p:pic>
        <p:nvPicPr>
          <p:cNvPr id="4" name="Picture 3">
            <a:extLst>
              <a:ext uri="{FF2B5EF4-FFF2-40B4-BE49-F238E27FC236}">
                <a16:creationId xmlns:a16="http://schemas.microsoft.com/office/drawing/2014/main" id="{0A739B26-CED1-BB41-57AE-DA1A0EC9A553}"/>
              </a:ext>
            </a:extLst>
          </p:cNvPr>
          <p:cNvPicPr>
            <a:picLocks noChangeAspect="1"/>
          </p:cNvPicPr>
          <p:nvPr/>
        </p:nvPicPr>
        <p:blipFill>
          <a:blip r:embed="rId2"/>
          <a:stretch>
            <a:fillRect/>
          </a:stretch>
        </p:blipFill>
        <p:spPr>
          <a:xfrm>
            <a:off x="152400" y="152400"/>
            <a:ext cx="1561556" cy="1407600"/>
          </a:xfrm>
          <a:prstGeom prst="rect">
            <a:avLst/>
          </a:prstGeom>
        </p:spPr>
      </p:pic>
      <p:sp>
        <p:nvSpPr>
          <p:cNvPr id="10" name="TextBox 9">
            <a:extLst>
              <a:ext uri="{FF2B5EF4-FFF2-40B4-BE49-F238E27FC236}">
                <a16:creationId xmlns:a16="http://schemas.microsoft.com/office/drawing/2014/main" id="{F0BDC6FD-6AC7-48EA-5592-11CFCAF77EB4}"/>
              </a:ext>
            </a:extLst>
          </p:cNvPr>
          <p:cNvSpPr txBox="1"/>
          <p:nvPr/>
        </p:nvSpPr>
        <p:spPr>
          <a:xfrm>
            <a:off x="1265017" y="5929232"/>
            <a:ext cx="6600111" cy="769441"/>
          </a:xfrm>
          <a:prstGeom prst="rect">
            <a:avLst/>
          </a:prstGeom>
          <a:noFill/>
        </p:spPr>
        <p:txBody>
          <a:bodyPr wrap="square">
            <a:spAutoFit/>
          </a:bodyPr>
          <a:lstStyle/>
          <a:p>
            <a:pPr marL="285750" indent="-285750">
              <a:buFont typeface="Wingdings" panose="05000000000000000000" pitchFamily="2" charset="2"/>
              <a:buChar char="Ø"/>
            </a:pPr>
            <a:r>
              <a:rPr lang="en-IN" sz="2200" dirty="0"/>
              <a:t>Proper analysis and design can prevent structural failure.</a:t>
            </a:r>
          </a:p>
        </p:txBody>
      </p:sp>
    </p:spTree>
    <p:extLst>
      <p:ext uri="{BB962C8B-B14F-4D97-AF65-F5344CB8AC3E}">
        <p14:creationId xmlns:p14="http://schemas.microsoft.com/office/powerpoint/2010/main" val="4044246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19331-62C2-FE09-BFF4-ED76ADCE88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8CE0E-D7A4-7757-A5BD-8C1AE5AFA743}"/>
              </a:ext>
            </a:extLst>
          </p:cNvPr>
          <p:cNvSpPr>
            <a:spLocks noGrp="1"/>
          </p:cNvSpPr>
          <p:nvPr>
            <p:ph type="ctrTitle"/>
          </p:nvPr>
        </p:nvSpPr>
        <p:spPr>
          <a:xfrm>
            <a:off x="1463452" y="426549"/>
            <a:ext cx="7162800" cy="706902"/>
          </a:xfrm>
        </p:spPr>
        <p:txBody>
          <a:bodyPr>
            <a:noAutofit/>
          </a:bodyPr>
          <a:lstStyle/>
          <a:p>
            <a:r>
              <a:rPr lang="en-US" dirty="0" err="1">
                <a:solidFill>
                  <a:srgbClr val="0070C0"/>
                </a:solidFill>
                <a:latin typeface="Times New Roman" panose="02020603050405020304" pitchFamily="18" charset="0"/>
                <a:cs typeface="Times New Roman" panose="02020603050405020304" pitchFamily="18" charset="0"/>
              </a:rPr>
              <a:t>Cont</a:t>
            </a:r>
            <a:r>
              <a:rPr lang="en-US" dirty="0">
                <a:solidFill>
                  <a:srgbClr val="0070C0"/>
                </a:solidFill>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4FD7A8B-0D81-8538-66BB-5AB09624CF55}"/>
              </a:ext>
            </a:extLst>
          </p:cNvPr>
          <p:cNvSpPr>
            <a:spLocks noGrp="1"/>
          </p:cNvSpPr>
          <p:nvPr>
            <p:ph type="subTitle" idx="1"/>
          </p:nvPr>
        </p:nvSpPr>
        <p:spPr>
          <a:xfrm flipH="1">
            <a:off x="8423010" y="1863696"/>
            <a:ext cx="45719" cy="1295400"/>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3B79E92F-A45C-AEA9-8F12-6DDC578CD508}"/>
              </a:ext>
            </a:extLst>
          </p:cNvPr>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5019795E-CECB-E028-565D-BFC4BF61BD97}"/>
              </a:ext>
            </a:extLst>
          </p:cNvPr>
          <p:cNvSpPr txBox="1">
            <a:spLocks/>
          </p:cNvSpPr>
          <p:nvPr/>
        </p:nvSpPr>
        <p:spPr>
          <a:xfrm>
            <a:off x="1066800" y="1673196"/>
            <a:ext cx="7162800" cy="2594004"/>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US" sz="2800" b="1" dirty="0">
                <a:solidFill>
                  <a:schemeClr val="tx1"/>
                </a:solidFill>
                <a:latin typeface="Times New Roman" panose="02020603050405020304" pitchFamily="18" charset="0"/>
                <a:cs typeface="Times New Roman" panose="02020603050405020304" pitchFamily="18" charset="0"/>
              </a:rPr>
              <a:t>Future Work :</a:t>
            </a:r>
          </a:p>
          <a:p>
            <a:pPr marL="370332" indent="-342900">
              <a:buClr>
                <a:schemeClr val="tx1"/>
              </a:buClr>
              <a:buFont typeface="Wingdings" panose="05000000000000000000" pitchFamily="2" charset="2"/>
              <a:buChar char="Ø"/>
            </a:pPr>
            <a:r>
              <a:rPr lang="en-IN" sz="2000" dirty="0"/>
              <a:t>Study can be extended under flood and extreme flow conditions.</a:t>
            </a:r>
          </a:p>
          <a:p>
            <a:pPr marL="370332" indent="-342900">
              <a:buClr>
                <a:schemeClr val="tx1"/>
              </a:buClr>
              <a:buFont typeface="Wingdings" panose="05000000000000000000" pitchFamily="2" charset="2"/>
              <a:buChar char="Ø"/>
            </a:pPr>
            <a:r>
              <a:rPr lang="en-IN" sz="2000" dirty="0"/>
              <a:t>Different soil types and pier shapes can be </a:t>
            </a:r>
            <a:r>
              <a:rPr lang="en-IN" sz="2000" dirty="0" err="1"/>
              <a:t>analyzed</a:t>
            </a:r>
            <a:r>
              <a:rPr lang="en-IN" sz="2000" dirty="0"/>
              <a:t>.</a:t>
            </a:r>
          </a:p>
          <a:p>
            <a:pPr marL="370332" indent="-342900">
              <a:buClr>
                <a:schemeClr val="tx1"/>
              </a:buClr>
              <a:buFont typeface="Wingdings" panose="05000000000000000000" pitchFamily="2" charset="2"/>
              <a:buChar char="Ø"/>
            </a:pPr>
            <a:r>
              <a:rPr lang="en-IN" sz="2000" dirty="0"/>
              <a:t>Advanced numerical and simulation methods can be used.</a:t>
            </a:r>
          </a:p>
          <a:p>
            <a:pPr marL="370332" indent="-342900">
              <a:buClr>
                <a:schemeClr val="tx1"/>
              </a:buClr>
              <a:buFont typeface="Wingdings" panose="05000000000000000000" pitchFamily="2" charset="2"/>
              <a:buChar char="Ø"/>
            </a:pPr>
            <a:r>
              <a:rPr lang="en-IN" sz="2000" dirty="0"/>
              <a:t>3D modelling can provide more accurate and detailed results.</a:t>
            </a:r>
          </a:p>
          <a:p>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7044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030C7-18C6-E346-27F7-FBCC0F0EA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8C67C-F371-AAD0-0211-CDDED8F54A1E}"/>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Acknowledgements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6BECECE-7E6C-6FB3-7B7D-79417927EA4D}"/>
              </a:ext>
            </a:extLst>
          </p:cNvPr>
          <p:cNvSpPr>
            <a:spLocks noGrp="1"/>
          </p:cNvSpPr>
          <p:nvPr>
            <p:ph type="subTitle" idx="1"/>
          </p:nvPr>
        </p:nvSpPr>
        <p:spPr>
          <a:xfrm>
            <a:off x="1143206" y="1600200"/>
            <a:ext cx="7803292" cy="2057400"/>
          </a:xfrm>
        </p:spPr>
        <p:txBody>
          <a:bodyPr>
            <a:noAutofit/>
          </a:bodyPr>
          <a:lstStyle/>
          <a:p>
            <a:r>
              <a:rPr lang="en-US" sz="2400" b="1" dirty="0">
                <a:latin typeface="Times New Roman" panose="02020603050405020304" pitchFamily="18" charset="0"/>
                <a:cs typeface="Times New Roman" panose="02020603050405020304" pitchFamily="18" charset="0"/>
              </a:rPr>
              <a:t>Guide: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 would like to express my sincere and heartfelt gratitude to my respected guide </a:t>
            </a:r>
            <a:r>
              <a:rPr lang="en-US" sz="1900" b="1" dirty="0">
                <a:latin typeface="Times New Roman" panose="02020603050405020304" pitchFamily="18" charset="0"/>
                <a:cs typeface="Times New Roman" panose="02020603050405020304" pitchFamily="18" charset="0"/>
              </a:rPr>
              <a:t>Mr. Baijnath Nishad</a:t>
            </a:r>
            <a:r>
              <a:rPr lang="en-US" sz="1800" dirty="0">
                <a:latin typeface="Times New Roman" panose="02020603050405020304" pitchFamily="18" charset="0"/>
                <a:cs typeface="Times New Roman" panose="02020603050405020304" pitchFamily="18" charset="0"/>
              </a:rPr>
              <a:t>, Assistant Professor </a:t>
            </a:r>
            <a:r>
              <a:rPr lang="en-US" sz="1800">
                <a:latin typeface="Times New Roman" panose="02020603050405020304" pitchFamily="18" charset="0"/>
                <a:cs typeface="Times New Roman" panose="02020603050405020304" pitchFamily="18" charset="0"/>
              </a:rPr>
              <a:t>&amp; Head of Department</a:t>
            </a:r>
            <a:r>
              <a:rPr lang="en-US" sz="1800" dirty="0">
                <a:latin typeface="Times New Roman" panose="02020603050405020304" pitchFamily="18" charset="0"/>
                <a:cs typeface="Times New Roman" panose="02020603050405020304" pitchFamily="18" charset="0"/>
              </a:rPr>
              <a:t>, Department of Civil Engineering, for his constant guidance, valuable suggestions, motivation, and continuous support throughout the completion of this research work. His technical expertise and encouragement helped me in successfully completing this study.</a:t>
            </a:r>
          </a:p>
        </p:txBody>
      </p:sp>
      <p:pic>
        <p:nvPicPr>
          <p:cNvPr id="4" name="Picture 3">
            <a:extLst>
              <a:ext uri="{FF2B5EF4-FFF2-40B4-BE49-F238E27FC236}">
                <a16:creationId xmlns:a16="http://schemas.microsoft.com/office/drawing/2014/main" id="{548AC4D2-53D6-CF00-A185-369DE857649A}"/>
              </a:ext>
            </a:extLst>
          </p:cNvPr>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8178EB48-9E7B-DF54-638F-08AD9C872AC6}"/>
              </a:ext>
            </a:extLst>
          </p:cNvPr>
          <p:cNvSpPr txBox="1">
            <a:spLocks/>
          </p:cNvSpPr>
          <p:nvPr/>
        </p:nvSpPr>
        <p:spPr>
          <a:xfrm>
            <a:off x="1166532" y="3810000"/>
            <a:ext cx="7803292" cy="2402400"/>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US" sz="2400" b="1" dirty="0">
                <a:latin typeface="Times New Roman" panose="02020603050405020304" pitchFamily="18" charset="0"/>
                <a:cs typeface="Times New Roman" panose="02020603050405020304" pitchFamily="18" charset="0"/>
              </a:rPr>
              <a:t>Institution: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 would also like to express my sincere thanks to </a:t>
            </a:r>
            <a:r>
              <a:rPr lang="en-US" sz="1800" b="1" dirty="0">
                <a:latin typeface="Times New Roman" panose="02020603050405020304" pitchFamily="18" charset="0"/>
                <a:cs typeface="Times New Roman" panose="02020603050405020304" pitchFamily="18" charset="0"/>
              </a:rPr>
              <a:t>Buddha Institute of Technology, Gorakhpur</a:t>
            </a:r>
            <a:r>
              <a:rPr lang="en-US" sz="1800" dirty="0">
                <a:latin typeface="Times New Roman" panose="02020603050405020304" pitchFamily="18" charset="0"/>
                <a:cs typeface="Times New Roman" panose="02020603050405020304" pitchFamily="18" charset="0"/>
              </a:rPr>
              <a:t> for providing a supportive academic environment, necessary resources, and infrastructure facilities which made this research work possible. I am also thankful to the Department of Civil Engineering for their cooperation and support.</a:t>
            </a:r>
          </a:p>
        </p:txBody>
      </p:sp>
    </p:spTree>
    <p:extLst>
      <p:ext uri="{BB962C8B-B14F-4D97-AF65-F5344CB8AC3E}">
        <p14:creationId xmlns:p14="http://schemas.microsoft.com/office/powerpoint/2010/main" val="3429819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922D9-E11C-5458-3D9F-E3F4665C2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40733-8E58-A4C8-C37E-DFE4537C227B}"/>
              </a:ext>
            </a:extLst>
          </p:cNvPr>
          <p:cNvSpPr>
            <a:spLocks noGrp="1"/>
          </p:cNvSpPr>
          <p:nvPr>
            <p:ph type="ctrTitle"/>
          </p:nvPr>
        </p:nvSpPr>
        <p:spPr>
          <a:xfrm>
            <a:off x="1600200" y="596949"/>
            <a:ext cx="7162800" cy="706902"/>
          </a:xfrm>
        </p:spPr>
        <p:txBody>
          <a:bodyPr>
            <a:noAutofit/>
          </a:bodyPr>
          <a:lstStyle/>
          <a:p>
            <a:r>
              <a:rPr lang="en-US" sz="4000" dirty="0">
                <a:solidFill>
                  <a:srgbClr val="0070C0"/>
                </a:solidFill>
                <a:latin typeface="Times New Roman" panose="02020603050405020304" pitchFamily="18" charset="0"/>
                <a:cs typeface="Times New Roman" panose="02020603050405020304" pitchFamily="18" charset="0"/>
              </a:rPr>
              <a:t>References</a:t>
            </a:r>
            <a:endParaRPr lang="en-US"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63455DF-C4B2-A682-B4EC-9A7198095A9D}"/>
              </a:ext>
            </a:extLst>
          </p:cNvPr>
          <p:cNvSpPr>
            <a:spLocks noGrp="1"/>
          </p:cNvSpPr>
          <p:nvPr>
            <p:ph type="subTitle" idx="1"/>
          </p:nvPr>
        </p:nvSpPr>
        <p:spPr>
          <a:xfrm>
            <a:off x="1219200" y="1572441"/>
            <a:ext cx="8077200" cy="3926400"/>
          </a:xfrm>
        </p:spPr>
        <p:txBody>
          <a:bodyPr>
            <a:normAutofit fontScale="40000" lnSpcReduction="20000"/>
          </a:bodyPr>
          <a:lstStyle/>
          <a:p>
            <a:pPr marL="457200" lvl="0" indent="-457200">
              <a:lnSpc>
                <a:spcPct val="115000"/>
              </a:lnSpc>
              <a:spcBef>
                <a:spcPts val="0"/>
              </a:spcBef>
              <a:buClr>
                <a:schemeClr val="dk1"/>
              </a:buClr>
              <a:buSzPts val="2180"/>
              <a:buFont typeface="Wingdings" panose="05000000000000000000" pitchFamily="2" charset="2"/>
              <a:buChar char="Ø"/>
            </a:pPr>
            <a:r>
              <a:rPr lang="en-IN" sz="4800" dirty="0"/>
              <a:t>Melville, B. W. (1997). Pier and abutment scour: Integrated approach. </a:t>
            </a:r>
            <a:r>
              <a:rPr lang="en-IN" sz="4800" i="1" dirty="0"/>
              <a:t>Journal of Hydraulic Engineering</a:t>
            </a:r>
            <a:r>
              <a:rPr lang="en-IN" sz="4800" dirty="0"/>
              <a:t>, 123(2), 125–136. </a:t>
            </a:r>
            <a:r>
              <a:rPr lang="en-IN" sz="4800" dirty="0">
                <a:hlinkClick r:id="rId2"/>
              </a:rPr>
              <a:t>https://doi.org/10.1061/(ASCE)0733-9429(1997)123:2(125)</a:t>
            </a:r>
            <a:endParaRPr lang="en-IN" sz="4800" dirty="0"/>
          </a:p>
          <a:p>
            <a:pPr marL="457200" lvl="0" indent="-457200">
              <a:lnSpc>
                <a:spcPct val="115000"/>
              </a:lnSpc>
              <a:spcBef>
                <a:spcPts val="0"/>
              </a:spcBef>
              <a:buClr>
                <a:schemeClr val="dk1"/>
              </a:buClr>
              <a:buSzPts val="2180"/>
              <a:buFont typeface="Wingdings" panose="05000000000000000000" pitchFamily="2" charset="2"/>
              <a:buChar char="Ø"/>
            </a:pPr>
            <a:r>
              <a:rPr lang="en-IN" sz="4800" dirty="0"/>
              <a:t>Richardson, E. V., &amp; Davis, S. R. (2001). Evaluating scour at bridges. </a:t>
            </a:r>
            <a:r>
              <a:rPr lang="en-IN" sz="4800" i="1" dirty="0"/>
              <a:t>Hydraulic Engineering Circular No. 18 (HEC-18)</a:t>
            </a:r>
            <a:r>
              <a:rPr lang="en-IN" sz="4800" dirty="0"/>
              <a:t>. Federal Highway Administration, Washington, D.C.</a:t>
            </a:r>
          </a:p>
          <a:p>
            <a:pPr marL="457200" lvl="0" indent="-457200">
              <a:lnSpc>
                <a:spcPct val="115000"/>
              </a:lnSpc>
              <a:spcBef>
                <a:spcPts val="0"/>
              </a:spcBef>
              <a:buClr>
                <a:schemeClr val="dk1"/>
              </a:buClr>
              <a:buSzPts val="2180"/>
              <a:buFont typeface="Wingdings" panose="05000000000000000000" pitchFamily="2" charset="2"/>
              <a:buChar char="Ø"/>
            </a:pPr>
            <a:r>
              <a:rPr lang="en-IN" sz="4800" dirty="0" err="1"/>
              <a:t>Raudkivi</a:t>
            </a:r>
            <a:r>
              <a:rPr lang="en-IN" sz="4800" dirty="0"/>
              <a:t>, A. J. (1986). Functional trends of scour at bridge piers. </a:t>
            </a:r>
            <a:r>
              <a:rPr lang="en-IN" sz="4800" i="1" dirty="0"/>
              <a:t>Journal of Hydraulic Research</a:t>
            </a:r>
            <a:r>
              <a:rPr lang="en-IN" sz="4800" dirty="0"/>
              <a:t>, 24(1), 23–36. </a:t>
            </a:r>
            <a:r>
              <a:rPr lang="en-IN" sz="4800" dirty="0">
                <a:hlinkClick r:id="rId3"/>
              </a:rPr>
              <a:t>https://doi.org/10.1080/00221688609499317</a:t>
            </a:r>
            <a:endParaRPr lang="en-IN" sz="4800" dirty="0"/>
          </a:p>
          <a:p>
            <a:pPr marL="457200" lvl="0" indent="-457200">
              <a:lnSpc>
                <a:spcPct val="115000"/>
              </a:lnSpc>
              <a:spcBef>
                <a:spcPts val="0"/>
              </a:spcBef>
              <a:buClr>
                <a:schemeClr val="dk1"/>
              </a:buClr>
              <a:buSzPts val="2180"/>
              <a:buFont typeface="Wingdings" panose="05000000000000000000" pitchFamily="2" charset="2"/>
              <a:buChar char="Ø"/>
            </a:pPr>
            <a:r>
              <a:rPr lang="en-IN" sz="4800" dirty="0"/>
              <a:t>Chiew, Y. M. (1992). Scour protection at bridge piers. </a:t>
            </a:r>
            <a:r>
              <a:rPr lang="en-IN" sz="4800" i="1" dirty="0"/>
              <a:t>Journal of Hydraulic Engineering</a:t>
            </a:r>
            <a:r>
              <a:rPr lang="en-IN" sz="4800" dirty="0"/>
              <a:t>, 118(9), 1260–1269. </a:t>
            </a:r>
            <a:r>
              <a:rPr lang="en-IN" sz="4800" dirty="0">
                <a:hlinkClick r:id="rId4"/>
              </a:rPr>
              <a:t>https://doi.org/10.1061/(ASCE)0733-9429(1992)118:9(1260)</a:t>
            </a:r>
            <a:endParaRPr lang="en-IN" sz="4800" dirty="0"/>
          </a:p>
          <a:p>
            <a:pPr marL="457200" lvl="0" indent="-457200">
              <a:lnSpc>
                <a:spcPct val="115000"/>
              </a:lnSpc>
              <a:spcBef>
                <a:spcPts val="0"/>
              </a:spcBef>
              <a:buClr>
                <a:schemeClr val="dk1"/>
              </a:buClr>
              <a:buSzPts val="2180"/>
              <a:buFont typeface="Wingdings" panose="05000000000000000000" pitchFamily="2" charset="2"/>
              <a:buChar char="Ø"/>
            </a:pPr>
            <a:r>
              <a:rPr lang="en-IN" sz="4800" dirty="0"/>
              <a:t>Dey, S. (2014). Fluvial hydrodynamics and scour. </a:t>
            </a:r>
            <a:r>
              <a:rPr lang="en-IN" sz="4800" i="1" dirty="0"/>
              <a:t>Advances in Water Resources</a:t>
            </a:r>
            <a:r>
              <a:rPr lang="en-IN" sz="4800" dirty="0"/>
              <a:t>, 62, 95–119. https://doi.org/10.1016/j.advwatres.2013.09.013</a:t>
            </a:r>
            <a:endParaRPr lang="en-US" sz="4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pic>
        <p:nvPicPr>
          <p:cNvPr id="4" name="Picture 3">
            <a:extLst>
              <a:ext uri="{FF2B5EF4-FFF2-40B4-BE49-F238E27FC236}">
                <a16:creationId xmlns:a16="http://schemas.microsoft.com/office/drawing/2014/main" id="{C72573B1-9ABF-BB62-E9EC-653CC14D4831}"/>
              </a:ext>
            </a:extLst>
          </p:cNvPr>
          <p:cNvPicPr>
            <a:picLocks noChangeAspect="1"/>
          </p:cNvPicPr>
          <p:nvPr/>
        </p:nvPicPr>
        <p:blipFill>
          <a:blip r:embed="rId5"/>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3715209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03873-A732-D926-FCA6-7460609C2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CD81AB-8451-A425-B078-6499D1FFD10F}"/>
              </a:ext>
            </a:extLst>
          </p:cNvPr>
          <p:cNvSpPr>
            <a:spLocks noGrp="1"/>
          </p:cNvSpPr>
          <p:nvPr>
            <p:ph type="ctrTitle"/>
          </p:nvPr>
        </p:nvSpPr>
        <p:spPr>
          <a:xfrm>
            <a:off x="1463452" y="426549"/>
            <a:ext cx="7162800" cy="706902"/>
          </a:xfrm>
        </p:spPr>
        <p:txBody>
          <a:bodyPr>
            <a:noAutofit/>
          </a:bodyPr>
          <a:lstStyle/>
          <a:p>
            <a:r>
              <a:rPr lang="en-US" dirty="0"/>
              <a:t> </a:t>
            </a:r>
          </a:p>
        </p:txBody>
      </p:sp>
      <p:sp>
        <p:nvSpPr>
          <p:cNvPr id="3" name="Subtitle 2">
            <a:extLst>
              <a:ext uri="{FF2B5EF4-FFF2-40B4-BE49-F238E27FC236}">
                <a16:creationId xmlns:a16="http://schemas.microsoft.com/office/drawing/2014/main" id="{948AC15F-A7E2-F31F-4A53-A09C7E20B0FC}"/>
              </a:ext>
            </a:extLst>
          </p:cNvPr>
          <p:cNvSpPr>
            <a:spLocks noGrp="1"/>
          </p:cNvSpPr>
          <p:nvPr>
            <p:ph type="subTitle" idx="1"/>
          </p:nvPr>
        </p:nvSpPr>
        <p:spPr>
          <a:xfrm>
            <a:off x="1143000" y="2971800"/>
            <a:ext cx="7406640" cy="1752600"/>
          </a:xfrm>
        </p:spPr>
        <p:txBody>
          <a:bodyPr>
            <a:normAutofit/>
          </a:bodyPr>
          <a:lstStyle/>
          <a:p>
            <a:pPr algn="ctr"/>
            <a:r>
              <a:rPr lang="en-US" sz="7200" dirty="0">
                <a:solidFill>
                  <a:srgbClr val="C00000"/>
                </a:solidFill>
              </a:rPr>
              <a:t>Thank You</a:t>
            </a:r>
          </a:p>
        </p:txBody>
      </p:sp>
      <p:pic>
        <p:nvPicPr>
          <p:cNvPr id="4" name="Picture 3">
            <a:extLst>
              <a:ext uri="{FF2B5EF4-FFF2-40B4-BE49-F238E27FC236}">
                <a16:creationId xmlns:a16="http://schemas.microsoft.com/office/drawing/2014/main" id="{85522CEB-3A3E-CBC1-B344-320EFE80B952}"/>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40546592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301</TotalTime>
  <Words>1233</Words>
  <Application>Microsoft Office PowerPoint</Application>
  <PresentationFormat>On-screen Show (4:3)</PresentationFormat>
  <Paragraphs>137</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Gill Sans MT</vt:lpstr>
      <vt:lpstr>Times New Roman</vt:lpstr>
      <vt:lpstr>Verdana</vt:lpstr>
      <vt:lpstr>Wingdings</vt:lpstr>
      <vt:lpstr>Wingdings 2</vt:lpstr>
      <vt:lpstr>Solstice</vt:lpstr>
      <vt:lpstr>1st National Conference on Sustainable Civil Engineering &amp; Geospatial Technologies: Materials &amp; Innovations for Climate Resilience (NCRT-SCE 2026)   Buddha Institute of  Technology  GIDA, Gorakhpur    Date of Conference: 15th – 16th April 2026</vt:lpstr>
      <vt:lpstr>Contents</vt:lpstr>
      <vt:lpstr>Introduction</vt:lpstr>
      <vt:lpstr>PowerPoint Presentation</vt:lpstr>
      <vt:lpstr>Problem Statement</vt:lpstr>
      <vt:lpstr>Objectives</vt:lpstr>
      <vt:lpstr>Literature Survey</vt:lpstr>
      <vt:lpstr> Proposed Solution / Methodology </vt:lpstr>
      <vt:lpstr>Results &amp; Analysis</vt:lpstr>
      <vt:lpstr>PowerPoint Presentation</vt:lpstr>
      <vt:lpstr>Conclusion &amp; Future Work</vt:lpstr>
      <vt:lpstr>Cont…</vt:lpstr>
      <vt:lpstr>Acknowledgements</vt:lpstr>
      <vt:lpstr>References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1st National Conference on Recent Trends in Science, Engineering and Technology (RTSET-2026)   Buddha Institute of  Technology , GIDA, Gorakhpur    Date of Conference: 27th – 28th March, 2026</dc:title>
  <dc:creator>office</dc:creator>
  <cp:lastModifiedBy>deepak maurya</cp:lastModifiedBy>
  <cp:revision>96</cp:revision>
  <dcterms:created xsi:type="dcterms:W3CDTF">2006-08-16T00:00:00Z</dcterms:created>
  <dcterms:modified xsi:type="dcterms:W3CDTF">2026-04-13T13:52:55Z</dcterms:modified>
</cp:coreProperties>
</file>